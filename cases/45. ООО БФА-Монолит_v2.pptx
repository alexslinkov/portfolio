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charts/style3.xml" ContentType="application/vnd.ms-office.chartstyl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charts/colors3.xml" ContentType="application/vnd.ms-office.chartcolorstyle+xml"/>
  <Override PartName="/ppt/theme/theme2.xml" ContentType="application/vnd.openxmlformats-officedocument.theme+xml"/>
  <Override PartName="/ppt/charts/chart3.xml" ContentType="application/vnd.openxmlformats-officedocument.drawingml.char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olors2.xml" ContentType="application/vnd.ms-office.chartcolorstyle+xml"/>
  <Override PartName="/ppt/charts/style2.xml" ContentType="application/vnd.ms-office.chartstyl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3"/>
    <p:sldMasterId id="2147483648" r:id="rId4"/>
  </p:sldMasterIdLst>
  <p:notesMasterIdLst>
    <p:notesMasterId r:id="rId7"/>
  </p:notesMasterIdLst>
  <p:sldIdLst>
    <p:sldId id="279" r:id="rId5"/>
    <p:sldId id="28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7B234E-CE7B-4213-5CCC-234424CF164C}" v="46" dt="2023-02-08T12:48:00.905"/>
    <p1510:client id="{B90C9B63-CA7C-7273-091E-AB857236BA27}" v="5" dt="2022-12-22T11:27:33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2958" autoAdjust="0"/>
  </p:normalViewPr>
  <p:slideViewPr>
    <p:cSldViewPr snapToGrid="0">
      <p:cViewPr varScale="1">
        <p:scale>
          <a:sx n="42" d="100"/>
          <a:sy n="42" d="100"/>
        </p:scale>
        <p:origin x="158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2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Торопова Анастасия Игоревна" userId="S::toropova_ai@archk.ru::ccf55b8b-4c71-4484-9ef8-91a0cbed1e94" providerId="AD" clId="Web-{7F7B234E-CE7B-4213-5CCC-234424CF164C}"/>
    <pc:docChg chg="modSld">
      <pc:chgData name="Торопова Анастасия Игоревна" userId="S::toropova_ai@archk.ru::ccf55b8b-4c71-4484-9ef8-91a0cbed1e94" providerId="AD" clId="Web-{7F7B234E-CE7B-4213-5CCC-234424CF164C}" dt="2023-02-08T12:48:00.905" v="36" actId="1076"/>
      <pc:docMkLst>
        <pc:docMk/>
      </pc:docMkLst>
      <pc:sldChg chg="modSp">
        <pc:chgData name="Торопова Анастасия Игоревна" userId="S::toropova_ai@archk.ru::ccf55b8b-4c71-4484-9ef8-91a0cbed1e94" providerId="AD" clId="Web-{7F7B234E-CE7B-4213-5CCC-234424CF164C}" dt="2023-02-08T12:48:00.905" v="36" actId="1076"/>
        <pc:sldMkLst>
          <pc:docMk/>
          <pc:sldMk cId="1156859293" sldId="279"/>
        </pc:sldMkLst>
        <pc:spChg chg="mod">
          <ac:chgData name="Торопова Анастасия Игоревна" userId="S::toropova_ai@archk.ru::ccf55b8b-4c71-4484-9ef8-91a0cbed1e94" providerId="AD" clId="Web-{7F7B234E-CE7B-4213-5CCC-234424CF164C}" dt="2023-02-08T12:44:38.555" v="7" actId="1076"/>
          <ac:spMkLst>
            <pc:docMk/>
            <pc:sldMk cId="1156859293" sldId="279"/>
            <ac:spMk id="639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7F7B234E-CE7B-4213-5CCC-234424CF164C}" dt="2023-02-08T12:45:36.244" v="10" actId="1076"/>
          <ac:spMkLst>
            <pc:docMk/>
            <pc:sldMk cId="1156859293" sldId="279"/>
            <ac:spMk id="640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7F7B234E-CE7B-4213-5CCC-234424CF164C}" dt="2023-02-08T12:45:45.119" v="12" actId="20577"/>
          <ac:spMkLst>
            <pc:docMk/>
            <pc:sldMk cId="1156859293" sldId="279"/>
            <ac:spMk id="644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7F7B234E-CE7B-4213-5CCC-234424CF164C}" dt="2023-02-08T12:45:55.151" v="13" actId="1076"/>
          <ac:spMkLst>
            <pc:docMk/>
            <pc:sldMk cId="1156859293" sldId="279"/>
            <ac:spMk id="648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7F7B234E-CE7B-4213-5CCC-234424CF164C}" dt="2023-02-08T12:47:53.030" v="34" actId="1076"/>
          <ac:spMkLst>
            <pc:docMk/>
            <pc:sldMk cId="1156859293" sldId="279"/>
            <ac:spMk id="650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7F7B234E-CE7B-4213-5CCC-234424CF164C}" dt="2023-02-08T12:47:15.810" v="27" actId="1076"/>
          <ac:spMkLst>
            <pc:docMk/>
            <pc:sldMk cId="1156859293" sldId="279"/>
            <ac:spMk id="651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7F7B234E-CE7B-4213-5CCC-234424CF164C}" dt="2023-02-08T12:47:52.999" v="33" actId="1076"/>
          <ac:spMkLst>
            <pc:docMk/>
            <pc:sldMk cId="1156859293" sldId="279"/>
            <ac:spMk id="654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7F7B234E-CE7B-4213-5CCC-234424CF164C}" dt="2023-02-08T12:47:19.513" v="28" actId="1076"/>
          <ac:spMkLst>
            <pc:docMk/>
            <pc:sldMk cId="1156859293" sldId="279"/>
            <ac:spMk id="655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7F7B234E-CE7B-4213-5CCC-234424CF164C}" dt="2023-02-08T12:47:39.795" v="31" actId="1076"/>
          <ac:spMkLst>
            <pc:docMk/>
            <pc:sldMk cId="1156859293" sldId="279"/>
            <ac:spMk id="656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7F7B234E-CE7B-4213-5CCC-234424CF164C}" dt="2023-02-08T12:47:32.545" v="30" actId="1076"/>
          <ac:spMkLst>
            <pc:docMk/>
            <pc:sldMk cId="1156859293" sldId="279"/>
            <ac:spMk id="657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7F7B234E-CE7B-4213-5CCC-234424CF164C}" dt="2023-02-08T12:46:14.558" v="16"/>
          <ac:spMkLst>
            <pc:docMk/>
            <pc:sldMk cId="1156859293" sldId="279"/>
            <ac:spMk id="658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7F7B234E-CE7B-4213-5CCC-234424CF164C}" dt="2023-02-08T12:47:23.998" v="29" actId="1076"/>
          <ac:spMkLst>
            <pc:docMk/>
            <pc:sldMk cId="1156859293" sldId="279"/>
            <ac:spMk id="661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7F7B234E-CE7B-4213-5CCC-234424CF164C}" dt="2023-02-08T12:47:44.452" v="32" actId="1076"/>
          <ac:spMkLst>
            <pc:docMk/>
            <pc:sldMk cId="1156859293" sldId="279"/>
            <ac:spMk id="663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7F7B234E-CE7B-4213-5CCC-234424CF164C}" dt="2023-02-08T12:46:14.589" v="17"/>
          <ac:spMkLst>
            <pc:docMk/>
            <pc:sldMk cId="1156859293" sldId="279"/>
            <ac:spMk id="664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7F7B234E-CE7B-4213-5CCC-234424CF164C}" dt="2023-02-08T12:48:00.858" v="35" actId="1076"/>
          <ac:spMkLst>
            <pc:docMk/>
            <pc:sldMk cId="1156859293" sldId="279"/>
            <ac:spMk id="665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7F7B234E-CE7B-4213-5CCC-234424CF164C}" dt="2023-02-08T12:48:00.905" v="36" actId="1076"/>
          <ac:spMkLst>
            <pc:docMk/>
            <pc:sldMk cId="1156859293" sldId="279"/>
            <ac:spMk id="669" creationId="{00000000-0000-0000-0000-000000000000}"/>
          </ac:spMkLst>
        </pc:spChg>
      </pc:sldChg>
      <pc:sldChg chg="modSp">
        <pc:chgData name="Торопова Анастасия Игоревна" userId="S::toropova_ai@archk.ru::ccf55b8b-4c71-4484-9ef8-91a0cbed1e94" providerId="AD" clId="Web-{7F7B234E-CE7B-4213-5CCC-234424CF164C}" dt="2023-02-08T12:45:23.947" v="8" actId="1076"/>
        <pc:sldMkLst>
          <pc:docMk/>
          <pc:sldMk cId="3365566804" sldId="280"/>
        </pc:sldMkLst>
        <pc:spChg chg="mod">
          <ac:chgData name="Торопова Анастасия Игоревна" userId="S::toropova_ai@archk.ru::ccf55b8b-4c71-4484-9ef8-91a0cbed1e94" providerId="AD" clId="Web-{7F7B234E-CE7B-4213-5CCC-234424CF164C}" dt="2023-02-08T12:45:23.947" v="8" actId="1076"/>
          <ac:spMkLst>
            <pc:docMk/>
            <pc:sldMk cId="3365566804" sldId="280"/>
            <ac:spMk id="640" creationId="{00000000-0000-0000-0000-000000000000}"/>
          </ac:spMkLst>
        </pc:spChg>
      </pc:sldChg>
    </pc:docChg>
  </pc:docChgLst>
  <pc:docChgLst>
    <pc:chgData name="Торопова Анастасия Игоревна" userId="S::toropova_ai@archk.ru::ccf55b8b-4c71-4484-9ef8-91a0cbed1e94" providerId="AD" clId="Web-{B90C9B63-CA7C-7273-091E-AB857236BA27}"/>
    <pc:docChg chg="addSld delSld modSld addMainMaster modMainMaster">
      <pc:chgData name="Торопова Анастасия Игоревна" userId="S::toropova_ai@archk.ru::ccf55b8b-4c71-4484-9ef8-91a0cbed1e94" providerId="AD" clId="Web-{B90C9B63-CA7C-7273-091E-AB857236BA27}" dt="2022-12-22T11:29:24.411" v="5"/>
      <pc:docMkLst>
        <pc:docMk/>
      </pc:docMkLst>
      <pc:sldChg chg="modSp del">
        <pc:chgData name="Торопова Анастасия Игоревна" userId="S::toropova_ai@archk.ru::ccf55b8b-4c71-4484-9ef8-91a0cbed1e94" providerId="AD" clId="Web-{B90C9B63-CA7C-7273-091E-AB857236BA27}" dt="2022-12-22T11:23:40.838" v="2"/>
        <pc:sldMkLst>
          <pc:docMk/>
          <pc:sldMk cId="2083362580" sldId="278"/>
        </pc:sldMkLst>
        <pc:spChg chg="mod">
          <ac:chgData name="Торопова Анастасия Игоревна" userId="S::toropova_ai@archk.ru::ccf55b8b-4c71-4484-9ef8-91a0cbed1e94" providerId="AD" clId="Web-{B90C9B63-CA7C-7273-091E-AB857236BA27}" dt="2022-12-22T11:14:00.659" v="0" actId="14100"/>
          <ac:spMkLst>
            <pc:docMk/>
            <pc:sldMk cId="2083362580" sldId="278"/>
            <ac:spMk id="58" creationId="{E847D8B6-7752-4229-BFD0-C57ACDD5265F}"/>
          </ac:spMkLst>
        </pc:spChg>
      </pc:sldChg>
      <pc:sldChg chg="modSp add">
        <pc:chgData name="Торопова Анастасия Игоревна" userId="S::toropova_ai@archk.ru::ccf55b8b-4c71-4484-9ef8-91a0cbed1e94" providerId="AD" clId="Web-{B90C9B63-CA7C-7273-091E-AB857236BA27}" dt="2022-12-22T11:23:53.056" v="3" actId="1076"/>
        <pc:sldMkLst>
          <pc:docMk/>
          <pc:sldMk cId="1156859293" sldId="279"/>
        </pc:sldMkLst>
        <pc:grpChg chg="mod">
          <ac:chgData name="Торопова Анастасия Игоревна" userId="S::toropova_ai@archk.ru::ccf55b8b-4c71-4484-9ef8-91a0cbed1e94" providerId="AD" clId="Web-{B90C9B63-CA7C-7273-091E-AB857236BA27}" dt="2022-12-22T11:23:53.056" v="3" actId="1076"/>
          <ac:grpSpMkLst>
            <pc:docMk/>
            <pc:sldMk cId="1156859293" sldId="279"/>
            <ac:grpSpMk id="631" creationId="{00000000-0000-0000-0000-000000000000}"/>
          </ac:grpSpMkLst>
        </pc:grpChg>
      </pc:sldChg>
      <pc:sldChg chg="add modNotes">
        <pc:chgData name="Торопова Анастасия Игоревна" userId="S::toropova_ai@archk.ru::ccf55b8b-4c71-4484-9ef8-91a0cbed1e94" providerId="AD" clId="Web-{B90C9B63-CA7C-7273-091E-AB857236BA27}" dt="2022-12-22T11:29:24.411" v="5"/>
        <pc:sldMkLst>
          <pc:docMk/>
          <pc:sldMk cId="3365566804" sldId="280"/>
        </pc:sldMkLst>
      </pc:sldChg>
      <pc:sldMasterChg chg="add addSldLayout">
        <pc:chgData name="Торопова Анастасия Игоревна" userId="S::toropova_ai@archk.ru::ccf55b8b-4c71-4484-9ef8-91a0cbed1e94" providerId="AD" clId="Web-{B90C9B63-CA7C-7273-091E-AB857236BA27}" dt="2022-12-22T11:23:35.432" v="1"/>
        <pc:sldMasterMkLst>
          <pc:docMk/>
          <pc:sldMasterMk cId="4153469918" sldId="2147483648"/>
        </pc:sldMasterMkLst>
        <pc:sldLayoutChg chg="add">
          <pc:chgData name="Торопова Анастасия Игоревна" userId="S::toropova_ai@archk.ru::ccf55b8b-4c71-4484-9ef8-91a0cbed1e94" providerId="AD" clId="Web-{B90C9B63-CA7C-7273-091E-AB857236BA27}" dt="2022-12-22T11:23:35.432" v="1"/>
          <pc:sldLayoutMkLst>
            <pc:docMk/>
            <pc:sldMasterMk cId="4153469918" sldId="2147483648"/>
            <pc:sldLayoutMk cId="2162470312" sldId="2147483649"/>
          </pc:sldLayoutMkLst>
        </pc:sldLayoutChg>
        <pc:sldLayoutChg chg="add">
          <pc:chgData name="Торопова Анастасия Игоревна" userId="S::toropova_ai@archk.ru::ccf55b8b-4c71-4484-9ef8-91a0cbed1e94" providerId="AD" clId="Web-{B90C9B63-CA7C-7273-091E-AB857236BA27}" dt="2022-12-22T11:23:35.432" v="1"/>
          <pc:sldLayoutMkLst>
            <pc:docMk/>
            <pc:sldMasterMk cId="4153469918" sldId="2147483648"/>
            <pc:sldLayoutMk cId="2608656770" sldId="2147483650"/>
          </pc:sldLayoutMkLst>
        </pc:sldLayoutChg>
        <pc:sldLayoutChg chg="add">
          <pc:chgData name="Торопова Анастасия Игоревна" userId="S::toropova_ai@archk.ru::ccf55b8b-4c71-4484-9ef8-91a0cbed1e94" providerId="AD" clId="Web-{B90C9B63-CA7C-7273-091E-AB857236BA27}" dt="2022-12-22T11:23:35.432" v="1"/>
          <pc:sldLayoutMkLst>
            <pc:docMk/>
            <pc:sldMasterMk cId="4153469918" sldId="2147483648"/>
            <pc:sldLayoutMk cId="2771220120" sldId="2147483651"/>
          </pc:sldLayoutMkLst>
        </pc:sldLayoutChg>
        <pc:sldLayoutChg chg="add">
          <pc:chgData name="Торопова Анастасия Игоревна" userId="S::toropova_ai@archk.ru::ccf55b8b-4c71-4484-9ef8-91a0cbed1e94" providerId="AD" clId="Web-{B90C9B63-CA7C-7273-091E-AB857236BA27}" dt="2022-12-22T11:23:35.432" v="1"/>
          <pc:sldLayoutMkLst>
            <pc:docMk/>
            <pc:sldMasterMk cId="4153469918" sldId="2147483648"/>
            <pc:sldLayoutMk cId="2668652412" sldId="2147483652"/>
          </pc:sldLayoutMkLst>
        </pc:sldLayoutChg>
        <pc:sldLayoutChg chg="add">
          <pc:chgData name="Торопова Анастасия Игоревна" userId="S::toropova_ai@archk.ru::ccf55b8b-4c71-4484-9ef8-91a0cbed1e94" providerId="AD" clId="Web-{B90C9B63-CA7C-7273-091E-AB857236BA27}" dt="2022-12-22T11:23:35.432" v="1"/>
          <pc:sldLayoutMkLst>
            <pc:docMk/>
            <pc:sldMasterMk cId="4153469918" sldId="2147483648"/>
            <pc:sldLayoutMk cId="4077933845" sldId="2147483653"/>
          </pc:sldLayoutMkLst>
        </pc:sldLayoutChg>
        <pc:sldLayoutChg chg="add">
          <pc:chgData name="Торопова Анастасия Игоревна" userId="S::toropova_ai@archk.ru::ccf55b8b-4c71-4484-9ef8-91a0cbed1e94" providerId="AD" clId="Web-{B90C9B63-CA7C-7273-091E-AB857236BA27}" dt="2022-12-22T11:23:35.432" v="1"/>
          <pc:sldLayoutMkLst>
            <pc:docMk/>
            <pc:sldMasterMk cId="4153469918" sldId="2147483648"/>
            <pc:sldLayoutMk cId="1087839328" sldId="2147483654"/>
          </pc:sldLayoutMkLst>
        </pc:sldLayoutChg>
        <pc:sldLayoutChg chg="add">
          <pc:chgData name="Торопова Анастасия Игоревна" userId="S::toropova_ai@archk.ru::ccf55b8b-4c71-4484-9ef8-91a0cbed1e94" providerId="AD" clId="Web-{B90C9B63-CA7C-7273-091E-AB857236BA27}" dt="2022-12-22T11:23:35.432" v="1"/>
          <pc:sldLayoutMkLst>
            <pc:docMk/>
            <pc:sldMasterMk cId="4153469918" sldId="2147483648"/>
            <pc:sldLayoutMk cId="3637354389" sldId="2147483655"/>
          </pc:sldLayoutMkLst>
        </pc:sldLayoutChg>
        <pc:sldLayoutChg chg="add">
          <pc:chgData name="Торопова Анастасия Игоревна" userId="S::toropova_ai@archk.ru::ccf55b8b-4c71-4484-9ef8-91a0cbed1e94" providerId="AD" clId="Web-{B90C9B63-CA7C-7273-091E-AB857236BA27}" dt="2022-12-22T11:23:35.432" v="1"/>
          <pc:sldLayoutMkLst>
            <pc:docMk/>
            <pc:sldMasterMk cId="4153469918" sldId="2147483648"/>
            <pc:sldLayoutMk cId="674563989" sldId="2147483656"/>
          </pc:sldLayoutMkLst>
        </pc:sldLayoutChg>
        <pc:sldLayoutChg chg="add">
          <pc:chgData name="Торопова Анастасия Игоревна" userId="S::toropova_ai@archk.ru::ccf55b8b-4c71-4484-9ef8-91a0cbed1e94" providerId="AD" clId="Web-{B90C9B63-CA7C-7273-091E-AB857236BA27}" dt="2022-12-22T11:23:35.432" v="1"/>
          <pc:sldLayoutMkLst>
            <pc:docMk/>
            <pc:sldMasterMk cId="4153469918" sldId="2147483648"/>
            <pc:sldLayoutMk cId="2500011418" sldId="2147483657"/>
          </pc:sldLayoutMkLst>
        </pc:sldLayoutChg>
        <pc:sldLayoutChg chg="add">
          <pc:chgData name="Торопова Анастасия Игоревна" userId="S::toropova_ai@archk.ru::ccf55b8b-4c71-4484-9ef8-91a0cbed1e94" providerId="AD" clId="Web-{B90C9B63-CA7C-7273-091E-AB857236BA27}" dt="2022-12-22T11:23:35.432" v="1"/>
          <pc:sldLayoutMkLst>
            <pc:docMk/>
            <pc:sldMasterMk cId="4153469918" sldId="2147483648"/>
            <pc:sldLayoutMk cId="383428241" sldId="2147483658"/>
          </pc:sldLayoutMkLst>
        </pc:sldLayoutChg>
        <pc:sldLayoutChg chg="add">
          <pc:chgData name="Торопова Анастасия Игоревна" userId="S::toropova_ai@archk.ru::ccf55b8b-4c71-4484-9ef8-91a0cbed1e94" providerId="AD" clId="Web-{B90C9B63-CA7C-7273-091E-AB857236BA27}" dt="2022-12-22T11:23:35.432" v="1"/>
          <pc:sldLayoutMkLst>
            <pc:docMk/>
            <pc:sldMasterMk cId="4153469918" sldId="2147483648"/>
            <pc:sldLayoutMk cId="35345265" sldId="2147483659"/>
          </pc:sldLayoutMkLst>
        </pc:sldLayoutChg>
        <pc:sldLayoutChg chg="add">
          <pc:chgData name="Торопова Анастасия Игоревна" userId="S::toropova_ai@archk.ru::ccf55b8b-4c71-4484-9ef8-91a0cbed1e94" providerId="AD" clId="Web-{B90C9B63-CA7C-7273-091E-AB857236BA27}" dt="2022-12-22T11:23:35.432" v="1"/>
          <pc:sldLayoutMkLst>
            <pc:docMk/>
            <pc:sldMasterMk cId="4153469918" sldId="2147483648"/>
            <pc:sldLayoutMk cId="1975370684" sldId="2147483662"/>
          </pc:sldLayoutMkLst>
        </pc:sldLayoutChg>
      </pc:sldMasterChg>
      <pc:sldMasterChg chg="replId modSldLayout">
        <pc:chgData name="Торопова Анастасия Игоревна" userId="S::toropova_ai@archk.ru::ccf55b8b-4c71-4484-9ef8-91a0cbed1e94" providerId="AD" clId="Web-{B90C9B63-CA7C-7273-091E-AB857236BA27}" dt="2022-12-22T11:23:35.432" v="1"/>
        <pc:sldMasterMkLst>
          <pc:docMk/>
          <pc:sldMasterMk cId="3340088126" sldId="2147483663"/>
        </pc:sldMasterMkLst>
        <pc:sldLayoutChg chg="replId">
          <pc:chgData name="Торопова Анастасия Игоревна" userId="S::toropova_ai@archk.ru::ccf55b8b-4c71-4484-9ef8-91a0cbed1e94" providerId="AD" clId="Web-{B90C9B63-CA7C-7273-091E-AB857236BA27}" dt="2022-12-22T11:23:35.432" v="1"/>
          <pc:sldLayoutMkLst>
            <pc:docMk/>
            <pc:sldMasterMk cId="3340088126" sldId="2147483663"/>
            <pc:sldLayoutMk cId="2723363996" sldId="2147483664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60-49FC-A06B-BC15AEFD9B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8"/>
          <c:min val="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12262</c:v>
                </c:pt>
                <c:pt idx="1">
                  <c:v>7300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E-4CB3-A748-9A1CAF2B2A1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300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12262</c:v>
                </c:pt>
                <c:pt idx="1">
                  <c:v>7300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E-4CB3-A748-9A1CAF2B2A1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300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67331-70E3-4B95-A312-8D062A5EB688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E7DA54-2DFB-4CCA-BBD9-3B8151BCCD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232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f9645b2320_6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f9645b2320_6_6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600" b="1" dirty="0">
                <a:solidFill>
                  <a:schemeClr val="tx1"/>
                </a:solidFill>
                <a:highlight>
                  <a:srgbClr val="FFFF00"/>
                </a:highlight>
              </a:rPr>
              <a:t>Описание примера вскрытия резервов: </a:t>
            </a:r>
            <a:br>
              <a:rPr lang="ru-RU" dirty="0"/>
            </a:br>
            <a:r>
              <a:rPr lang="ru-RU" dirty="0"/>
              <a:t>*</a:t>
            </a:r>
            <a:r>
              <a:rPr lang="ru-RU" b="1" dirty="0"/>
              <a:t>Контактная информация: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Слиньков Александр;</a:t>
            </a:r>
            <a:r>
              <a:rPr lang="ru-RU" b="0" dirty="0"/>
              <a:t> </a:t>
            </a:r>
            <a:r>
              <a:rPr lang="ru-RU" dirty="0"/>
              <a:t>+79312409850; </a:t>
            </a:r>
            <a:br>
              <a:rPr lang="ru-RU" dirty="0"/>
            </a:br>
            <a:r>
              <a:rPr lang="ru-RU" dirty="0"/>
              <a:t>*</a:t>
            </a:r>
            <a:r>
              <a:rPr lang="ru-RU" b="1" dirty="0"/>
              <a:t>Срок реализации проекта: </a:t>
            </a:r>
            <a:r>
              <a:rPr lang="ru-RU" dirty="0"/>
              <a:t>с мая 2022 по сентябрь 2022, результаты за 5 мес. работы</a:t>
            </a:r>
          </a:p>
          <a:p>
            <a:r>
              <a:rPr lang="ru-RU" dirty="0"/>
              <a:t>*</a:t>
            </a:r>
            <a:r>
              <a:rPr lang="ru-RU" b="1" dirty="0"/>
              <a:t>Краткая информация о предприятии:</a:t>
            </a:r>
          </a:p>
          <a:p>
            <a:pPr marL="171450" indent="-171450">
              <a:buFontTx/>
              <a:buChar char="-"/>
            </a:pPr>
            <a:r>
              <a:rPr lang="ru-RU" dirty="0"/>
              <a:t>Режим работы предприятия/потока – 1 сменный режим работы (по 12 часов, без выходных)</a:t>
            </a:r>
          </a:p>
          <a:p>
            <a:pPr marL="171450" indent="-171450">
              <a:buFontTx/>
              <a:buChar char="-"/>
            </a:pPr>
            <a:r>
              <a:rPr lang="ru-RU" dirty="0"/>
              <a:t>Численность сотрудников в потоке в смену – 6-8 человек</a:t>
            </a:r>
          </a:p>
          <a:p>
            <a:pPr marL="171450" indent="-171450">
              <a:buFontTx/>
              <a:buChar char="-"/>
            </a:pPr>
            <a:r>
              <a:rPr lang="ru-RU" dirty="0"/>
              <a:t>Причина открытия проекта именно в этом потоке – большое количество ручного труда, заказчики требуют ускорения процесса</a:t>
            </a:r>
          </a:p>
          <a:p>
            <a:pPr marL="171450" indent="-171450">
              <a:buFontTx/>
              <a:buChar char="-"/>
            </a:pPr>
            <a:endParaRPr lang="ru-RU" b="1" dirty="0"/>
          </a:p>
          <a:p>
            <a:pPr marL="0" indent="0">
              <a:buFontTx/>
              <a:buNone/>
            </a:pPr>
            <a:r>
              <a:rPr lang="ru-RU" b="1" dirty="0"/>
              <a:t>Краткая справка о продукте: </a:t>
            </a:r>
          </a:p>
          <a:p>
            <a:pPr marL="0" indent="0">
              <a:buFontTx/>
              <a:buNone/>
            </a:pPr>
            <a:r>
              <a:rPr lang="ru-RU" sz="1200" b="0" i="0" dirty="0">
                <a:solidFill>
                  <a:schemeClr val="accent1">
                    <a:lumMod val="75000"/>
                  </a:schemeClr>
                </a:solidFill>
                <a:effectLst/>
                <a:latin typeface="Open sands"/>
              </a:rPr>
              <a:t>Оптимизация производства работ по укладке плитки.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-Объем в выручке – 16%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1" dirty="0"/>
          </a:p>
          <a:p>
            <a:pPr marL="0" indent="0">
              <a:buFontTx/>
              <a:buNone/>
            </a:pPr>
            <a:r>
              <a:rPr lang="ru-RU" b="1" dirty="0"/>
              <a:t>Информация о проекте: </a:t>
            </a:r>
          </a:p>
          <a:p>
            <a:endParaRPr lang="ru-RU" b="1" dirty="0"/>
          </a:p>
          <a:p>
            <a:pPr lvl="0"/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1: </a:t>
            </a:r>
          </a:p>
          <a:p>
            <a:pPr lvl="0"/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Частая утеря материалов и инструмента на производственной площадке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-Проведение инвентаризации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-Внедрение адресного хранение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-Разработка системы списания матери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-Разработка регламента работы кладовщика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Произведена инвентаризация 50% материалов и 100% инструмента.</a:t>
            </a: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0" kern="120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30% </a:t>
            </a:r>
            <a:r>
              <a:rPr lang="ru-RU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 100% инструмента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материалов занесено в систему учета.</a:t>
            </a:r>
          </a:p>
          <a:p>
            <a:pPr lvl="0"/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2: </a:t>
            </a:r>
            <a:endParaRPr lang="ru-RU" sz="12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/>
              <a:t>Отсутствие актуальной информации у менеджмента для принятия решений. Длительные совещания.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Время планирования работ сокращено с 540 минут до 60 минут.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3: </a:t>
            </a:r>
            <a:endParaRPr lang="ru-RU" sz="1200" b="0" dirty="0"/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Длительный процесс приемки плитки в сан. узле.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Пропуски недочетов со стороны ОТК.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Снижение количества пропущенного брака на 15%.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4: </a:t>
            </a:r>
            <a:endParaRPr lang="ru-RU" sz="12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/>
              <a:t>Брак: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/>
              <a:t>А)по причине сколов и царапин на плитке.</a:t>
            </a:r>
          </a:p>
          <a:p>
            <a:pPr lvl="0"/>
            <a:r>
              <a:rPr lang="ru-RU" sz="1200" b="0" dirty="0"/>
              <a:t>Б) укладки теплого пола, обнаруживающийся только на стадии приёмки квартиры дольщиком.</a:t>
            </a:r>
            <a:br>
              <a:rPr lang="ru-RU" sz="1200" b="0" dirty="0"/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Сокращение брака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/>
              <a:t>А)по причине сколов и царапин на плитке – на 15%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/>
              <a:t>Б) укладки теплого пола, обнаруживающийся только на стадии приёмки квартиры дольщиком – на 20%</a:t>
            </a:r>
          </a:p>
        </p:txBody>
      </p:sp>
      <p:sp>
        <p:nvSpPr>
          <p:cNvPr id="613" name="Google Shape;613;gf9645b2320_6_6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085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f9645b2320_6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f9645b2320_6_6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600" b="1" dirty="0">
                <a:solidFill>
                  <a:schemeClr val="tx1"/>
                </a:solidFill>
                <a:highlight>
                  <a:srgbClr val="FFFF00"/>
                </a:highlight>
              </a:rPr>
              <a:t>Описание примера вскрытия резервов: </a:t>
            </a:r>
            <a:br>
              <a:rPr lang="ru-RU" dirty="0"/>
            </a:br>
            <a:r>
              <a:rPr lang="ru-RU" dirty="0"/>
              <a:t>*</a:t>
            </a:r>
            <a:r>
              <a:rPr lang="ru-RU" b="1" dirty="0"/>
              <a:t>Контактная информация: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Слиньков Александр;</a:t>
            </a:r>
            <a:r>
              <a:rPr lang="ru-RU" b="0" dirty="0"/>
              <a:t> </a:t>
            </a:r>
            <a:r>
              <a:rPr lang="ru-RU" dirty="0"/>
              <a:t>+79312409850; </a:t>
            </a:r>
            <a:br>
              <a:rPr lang="ru-RU" dirty="0"/>
            </a:br>
            <a:r>
              <a:rPr lang="ru-RU" dirty="0"/>
              <a:t>*</a:t>
            </a:r>
            <a:r>
              <a:rPr lang="ru-RU" b="1" dirty="0"/>
              <a:t>Срок реализации проекта: </a:t>
            </a:r>
            <a:r>
              <a:rPr lang="ru-RU" dirty="0"/>
              <a:t>с мая 2022 по сентябрь 2022, результаты за 5 мес. работы</a:t>
            </a:r>
          </a:p>
          <a:p>
            <a:r>
              <a:rPr lang="ru-RU" dirty="0"/>
              <a:t>*</a:t>
            </a:r>
            <a:r>
              <a:rPr lang="ru-RU" b="1" dirty="0"/>
              <a:t>Краткая информация о предприятии:</a:t>
            </a:r>
          </a:p>
          <a:p>
            <a:pPr marL="171450" indent="-171450">
              <a:buFontTx/>
              <a:buChar char="-"/>
            </a:pPr>
            <a:r>
              <a:rPr lang="ru-RU" dirty="0"/>
              <a:t>Режим работы предприятия/потока – 1 сменный режим работы (по 12 часов, без выходных)</a:t>
            </a:r>
          </a:p>
          <a:p>
            <a:pPr marL="171450" indent="-171450">
              <a:buFontTx/>
              <a:buChar char="-"/>
            </a:pPr>
            <a:r>
              <a:rPr lang="ru-RU" dirty="0"/>
              <a:t>Численность сотрудников в потоке в смену – 6-8 человек</a:t>
            </a:r>
          </a:p>
          <a:p>
            <a:pPr marL="171450" indent="-171450">
              <a:buFontTx/>
              <a:buChar char="-"/>
            </a:pPr>
            <a:r>
              <a:rPr lang="ru-RU" dirty="0"/>
              <a:t>Причина открытия проекта именно в этом потоке – большое количество ручного труда, заказчики требуют ускорения процесса</a:t>
            </a:r>
          </a:p>
          <a:p>
            <a:pPr marL="171450" indent="-171450">
              <a:buFontTx/>
              <a:buChar char="-"/>
            </a:pPr>
            <a:endParaRPr lang="ru-RU" b="1" dirty="0"/>
          </a:p>
          <a:p>
            <a:pPr marL="0" indent="0">
              <a:buFontTx/>
              <a:buNone/>
            </a:pPr>
            <a:r>
              <a:rPr lang="ru-RU" b="1" dirty="0"/>
              <a:t>Краткая справка о продукте: </a:t>
            </a:r>
          </a:p>
          <a:p>
            <a:pPr marL="0" indent="0">
              <a:buFontTx/>
              <a:buNone/>
            </a:pPr>
            <a:r>
              <a:rPr lang="ru-RU" sz="1200" b="0" i="0" dirty="0">
                <a:solidFill>
                  <a:schemeClr val="accent1">
                    <a:lumMod val="75000"/>
                  </a:schemeClr>
                </a:solidFill>
                <a:effectLst/>
                <a:latin typeface="Open sands"/>
              </a:rPr>
              <a:t>Оптимизация производства работ по укладке плитки.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-Объем в выручке – 16%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1" dirty="0"/>
          </a:p>
          <a:p>
            <a:pPr marL="0" indent="0">
              <a:buFontTx/>
              <a:buNone/>
            </a:pPr>
            <a:r>
              <a:rPr lang="ru-RU" b="1" dirty="0"/>
              <a:t>Информация о проекте: </a:t>
            </a:r>
          </a:p>
          <a:p>
            <a:endParaRPr lang="ru-RU" b="1" dirty="0"/>
          </a:p>
          <a:p>
            <a:pPr lvl="0"/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1: </a:t>
            </a:r>
          </a:p>
          <a:p>
            <a:pPr lvl="0"/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Частая утеря материалов и инструмента на производственной площадке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-Проведение инвентаризации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-Внедрение адресного хранение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-Разработка системы списания матери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-Разработка регламента работы кладовщика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Произведена инвентаризация 50% материалов и 100% инструмента.</a:t>
            </a: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0" kern="120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30% </a:t>
            </a:r>
            <a:r>
              <a:rPr lang="ru-RU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 100% инструмента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материалов занесено в систему учета.</a:t>
            </a:r>
          </a:p>
          <a:p>
            <a:pPr lvl="0"/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2: </a:t>
            </a:r>
            <a:endParaRPr lang="ru-RU" sz="12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/>
              <a:t>Отсутствие актуальной информации у менеджмента для принятия решений. Длительные совещания.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Время планирования работ сокращено с 540 минут до 60 минут.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3: </a:t>
            </a:r>
            <a:endParaRPr lang="ru-RU" sz="1200" b="0" dirty="0"/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Длительный процесс приемки плитки в сан. узле.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Пропуски недочетов со стороны ОТК.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Снижение количества пропущенного брака на 15%.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4: </a:t>
            </a:r>
            <a:endParaRPr lang="ru-RU" sz="12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/>
              <a:t>Брак: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/>
              <a:t>А)по причине сколов и царапин на плитке.</a:t>
            </a:r>
          </a:p>
          <a:p>
            <a:pPr lvl="0"/>
            <a:r>
              <a:rPr lang="ru-RU" sz="1200" b="0" dirty="0"/>
              <a:t>Б) укладки теплого пола, обнаруживающийся только на стадии приёмки квартиры дольщиком.</a:t>
            </a:r>
            <a:br>
              <a:rPr lang="ru-RU" sz="1200" b="0" dirty="0"/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Сокращение брака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/>
              <a:t>А)по причине сколов и царапин на плитке – на 15%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/>
              <a:t>Б) укладки теплого пола, обнаруживающийся только на стадии приёмки квартиры дольщиком – на 20%</a:t>
            </a:r>
          </a:p>
          <a:p>
            <a:endParaRPr lang="ru-RU" dirty="0"/>
          </a:p>
        </p:txBody>
      </p:sp>
      <p:sp>
        <p:nvSpPr>
          <p:cNvPr id="613" name="Google Shape;613;gf9645b2320_6_6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4016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3.xml"/><Relationship Id="rId7" Type="http://schemas.openxmlformats.org/officeDocument/2006/relationships/slideMaster" Target="../slideMasters/slideMaster2.xml"/><Relationship Id="rId12" Type="http://schemas.openxmlformats.org/officeDocument/2006/relationships/chart" Target="../charts/char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chart" Target="../charts/chart2.xml"/><Relationship Id="rId5" Type="http://schemas.openxmlformats.org/officeDocument/2006/relationships/tags" Target="../tags/tag5.xml"/><Relationship Id="rId10" Type="http://schemas.openxmlformats.org/officeDocument/2006/relationships/chart" Target="../charts/chart1.xml"/><Relationship Id="rId4" Type="http://schemas.openxmlformats.org/officeDocument/2006/relationships/tags" Target="../tags/tag4.xml"/><Relationship Id="rId9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C004F0-805E-4E44-858F-A3B8AA9F6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2AF4A1-BFE4-447E-BE49-59C9FE9FB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723363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82E69-A74A-4881-973C-B78B4886FD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4BCBE8-FE69-4B5A-8D92-D5B33222D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E2A11B-98E2-4794-8A2A-036995D3F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D038A8-D678-4D46-8310-3646E4C36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4F67F6-CB35-4FA1-9D1B-CB230999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470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DDF2A9-9BF8-4ADA-8B51-5AB420382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947B8C-A017-40B6-9D6A-BC5C1C161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C1D03A-2544-462C-9FF2-8D96F173C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595919-F3D2-46E3-9E8E-81F854D08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CFB08A-6966-48C7-8400-0762689E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656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D3629D-64A0-486D-A1F8-E7B463CF0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E3BBB6-9429-45D4-82F3-AC707FB6F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B67550-FF97-49D9-B6C9-9AD8CA9C5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930415-5D4D-40E5-B2E6-967E44650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77514E-8BD0-4A95-A36F-D6D019A77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220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9A2EF5-190F-4C58-ABE7-CF9969406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96A418-958F-4923-9C9A-9C68A33D4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AFA1DD-01A2-4F14-9526-698A10A8E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69656D-CD42-4EFC-97B0-176F22C7F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4CC9A2-96BF-40AE-8957-D137F06DE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117764-D05D-4EB7-8304-B6BCD302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652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F7FA7-F0C3-419E-B2E6-BD125A664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977BE1-D0D8-4E13-83F5-75B96E81A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01E194B-566B-4571-96CE-051B33771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B3A31FF-F342-4FD1-B104-04A31FB4A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4D26B3C-97B4-474D-8759-A4CEFBA28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AA73D56-0F46-491C-BA25-DC0F312B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BB8975-458C-4A5B-AF1C-FDBEFD2D0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8BC5D44-B5DE-46DE-9880-ABBEB1832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7933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E2C81-9CD7-4A4E-B02B-7881C78C1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86FA7F6-EDC0-472D-8FE0-DF60F4A8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F1350F5-C8C5-406A-9947-47E08E4DE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29C7AA-52B1-4EE6-B436-C2B04C71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83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F8C4FF1-DD78-4ED2-A992-94EE7CC6A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A15ECF8-1952-4501-A52F-BA9BBE15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99236F-D1CC-4CC4-97BF-03A14571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354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69A80-B293-44BB-8437-DF0D398A6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4E61DA-03E0-460B-AF13-868063498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3F922A1-D3D5-4797-AB48-FA6EDF588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6B71EF-892F-4A1D-9747-837BF45F4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9686FB-AF5A-4A8A-B17E-EF8D27F43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EB7393-28B0-451D-BC86-A110D030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563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FA9111-DFCA-4F73-A64B-461124081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602074-9E75-4596-840C-4545D608E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2DCFACB-BE8F-4D37-9A80-1AF883011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F87DEF-1AF6-4AA6-9E29-19A0C3ED0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134596-F6E0-4208-8704-44C3DA46C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D1B824-94F9-46DE-995A-DE14C3E6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011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82D48C-3C6C-429E-AAF4-5FC02C533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98F580-6693-4D11-B526-8CB8F5CE5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C8692C-64B4-4428-8623-AD780D0E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4CE20D-3B53-469C-A7C8-C94B12A22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6D10D1-3B2F-4616-A5C0-338D60E0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428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D07115C-E65C-4AC7-8DE5-82BCA3A4E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39C84E3-507C-4243-91D5-4E51148BD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65C550-6D69-4A68-9339-0E8A1478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CFB331-5B54-4FE2-85E2-669EBB84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516D53-2C7A-408F-B535-8470C476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45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B4474FAE-D306-4CAB-B284-793DBDDBA2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2904576"/>
              </p:ext>
            </p:ext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8" imgW="395" imgH="396" progId="TCLayout.ActiveDocument.1">
                  <p:embed/>
                </p:oleObj>
              </mc:Choice>
              <mc:Fallback>
                <p:oleObj name="Слайд think-cell" r:id="rId8" imgW="395" imgH="396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B4474FAE-D306-4CAB-B284-793DBDDBA2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Прямоугольник 6" hidden="1">
            <a:extLst>
              <a:ext uri="{FF2B5EF4-FFF2-40B4-BE49-F238E27FC236}">
                <a16:creationId xmlns:a16="http://schemas.microsoft.com/office/drawing/2014/main" id="{00E04643-FFCF-4DB4-964D-9FFAD2B40D6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2" y="2"/>
            <a:ext cx="158751" cy="1587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ru-RU" sz="1800" b="0" i="0" baseline="0"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A2474-E6EA-46CF-B749-C11EDBF5CA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209" y="462668"/>
            <a:ext cx="5553891" cy="646331"/>
          </a:xfrm>
        </p:spPr>
        <p:txBody>
          <a:bodyPr lIns="0">
            <a:normAutofit/>
          </a:bodyPr>
          <a:lstStyle>
            <a:lvl1pPr>
              <a:defRPr sz="1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ru-RU"/>
              <a:t>Наименование организации</a:t>
            </a:r>
            <a:br>
              <a:rPr lang="ru-RU"/>
            </a:br>
            <a:r>
              <a:rPr lang="ru-RU"/>
              <a:t>Регион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41D7CC-54C4-47A5-831D-69EC140B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8977" y="6409532"/>
            <a:ext cx="372745" cy="365125"/>
          </a:xfrm>
        </p:spPr>
        <p:txBody>
          <a:bodyPr/>
          <a:lstStyle/>
          <a:p>
            <a:fld id="{7D4836FE-67DB-4030-B61F-7E4FB502A8A7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4B64B703-96F9-4920-AE97-0E0229E835CC}"/>
              </a:ext>
            </a:extLst>
          </p:cNvPr>
          <p:cNvSpPr txBox="1">
            <a:spLocks/>
          </p:cNvSpPr>
          <p:nvPr userDrawn="1"/>
        </p:nvSpPr>
        <p:spPr>
          <a:xfrm>
            <a:off x="542112" y="113599"/>
            <a:ext cx="8831483" cy="349068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300" b="1">
                <a:solidFill>
                  <a:srgbClr val="0070C0"/>
                </a:solidFill>
              </a:rPr>
              <a:t>Примеры вскрытия резервов производительности</a:t>
            </a:r>
            <a:endParaRPr lang="ru-RU" sz="2300" b="1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2225DDE4-89FC-4C34-B057-D07FC697C740}"/>
              </a:ext>
            </a:extLst>
          </p:cNvPr>
          <p:cNvCxnSpPr/>
          <p:nvPr userDrawn="1"/>
        </p:nvCxnSpPr>
        <p:spPr>
          <a:xfrm>
            <a:off x="578624" y="1134307"/>
            <a:ext cx="1123200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2FC6996-8FCE-4AFB-B572-A222827417B0}"/>
              </a:ext>
            </a:extLst>
          </p:cNvPr>
          <p:cNvCxnSpPr/>
          <p:nvPr userDrawn="1"/>
        </p:nvCxnSpPr>
        <p:spPr>
          <a:xfrm>
            <a:off x="578624" y="1767528"/>
            <a:ext cx="1123200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Текст 23">
            <a:extLst>
              <a:ext uri="{FF2B5EF4-FFF2-40B4-BE49-F238E27FC236}">
                <a16:creationId xmlns:a16="http://schemas.microsoft.com/office/drawing/2014/main" id="{F68A7246-6099-4AE2-9883-01F0D9A4F8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461100"/>
            <a:ext cx="5715000" cy="646333"/>
          </a:xfrm>
        </p:spPr>
        <p:txBody>
          <a:bodyPr rIns="0" anchor="ctr"/>
          <a:lstStyle>
            <a:lvl1pPr marL="0" indent="0" algn="r">
              <a:spcBef>
                <a:spcPts val="0"/>
              </a:spcBef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ru-RU"/>
              <a:t>Отрасль в соответствии с ОКВЕД</a:t>
            </a: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D6D201E9-2DE2-4666-B943-85E54B5E03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21840" y="1158692"/>
            <a:ext cx="9788784" cy="58196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ru-RU"/>
              <a:t>Название пилотного потока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003B8A6-34CA-4576-A4DC-3ABC36429D4D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578627" y="1158695"/>
            <a:ext cx="1358581" cy="584775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ru-RU" sz="1600">
                <a:solidFill>
                  <a:schemeClr val="bg1">
                    <a:lumMod val="50000"/>
                  </a:schemeClr>
                </a:solidFill>
              </a:rPr>
              <a:t>Пилотный поток: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8A4EA0DE-AEFA-494B-BF74-BAA880EEA62A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3720653" y="1783538"/>
            <a:ext cx="3115016" cy="3231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18525" defTabSz="121911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ru-RU" sz="1500" b="1">
                <a:solidFill>
                  <a:schemeClr val="bg1">
                    <a:lumMod val="50000"/>
                  </a:schemeClr>
                </a:solidFill>
              </a:rPr>
              <a:t>Основные мероприятия: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C242E3B-12DD-4460-99BC-AED62C071741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472851" y="1783538"/>
            <a:ext cx="3115015" cy="3231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18525" defTabSz="121911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ru-RU" sz="1500" b="1">
                <a:solidFill>
                  <a:schemeClr val="bg1">
                    <a:lumMod val="50000"/>
                  </a:schemeClr>
                </a:solidFill>
              </a:rPr>
              <a:t>Основной результат: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9DB731E-7E9F-491E-B50B-D662BFBFAA58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8305802" y="1783536"/>
            <a:ext cx="3504825" cy="3231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18525" defTabSz="121911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ru-RU" sz="1500" b="1">
                <a:solidFill>
                  <a:schemeClr val="bg1">
                    <a:lumMod val="50000"/>
                  </a:schemeClr>
                </a:solidFill>
              </a:rPr>
              <a:t>Показатели пилотного потока: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8BD4FD95-8BFE-499E-ADA9-916D9C7E78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7852" y="2106614"/>
            <a:ext cx="3010013" cy="300082"/>
          </a:xfrm>
        </p:spPr>
        <p:txBody>
          <a:bodyPr lIns="0">
            <a:spAutoFit/>
          </a:bodyPr>
          <a:lstStyle>
            <a:lvl1pPr marL="0" indent="0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/>
              <a:t>Описание результат</a:t>
            </a: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2EA27555-38F0-4EFF-9455-BCD424C057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49529" y="2106610"/>
            <a:ext cx="4515632" cy="300082"/>
          </a:xfrm>
        </p:spPr>
        <p:txBody>
          <a:bodyPr wrap="square">
            <a:spAutoFit/>
          </a:bodyPr>
          <a:lstStyle>
            <a:lvl1pPr marL="266687" indent="-266687">
              <a:buClr>
                <a:srgbClr val="0070C0"/>
              </a:buClr>
              <a:buFont typeface="+mj-lt"/>
              <a:buAutoNum type="arabicPeriod"/>
              <a:defRPr sz="15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/>
              <a:t>Описание мероприятий</a:t>
            </a:r>
          </a:p>
        </p:txBody>
      </p:sp>
      <p:sp>
        <p:nvSpPr>
          <p:cNvPr id="40" name="Рисунок 39">
            <a:extLst>
              <a:ext uri="{FF2B5EF4-FFF2-40B4-BE49-F238E27FC236}">
                <a16:creationId xmlns:a16="http://schemas.microsoft.com/office/drawing/2014/main" id="{4392BFB0-074D-45DB-B32C-A046D6E770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7739" y="3994487"/>
            <a:ext cx="3010013" cy="241504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/>
          </a:p>
        </p:txBody>
      </p:sp>
      <p:graphicFrame>
        <p:nvGraphicFramePr>
          <p:cNvPr id="42" name="Диаграмма 41">
            <a:extLst>
              <a:ext uri="{FF2B5EF4-FFF2-40B4-BE49-F238E27FC236}">
                <a16:creationId xmlns:a16="http://schemas.microsoft.com/office/drawing/2014/main" id="{62AA4875-FA4E-4D89-A8ED-4B342F29363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415083973"/>
              </p:ext>
            </p:extLst>
          </p:nvPr>
        </p:nvGraphicFramePr>
        <p:xfrm>
          <a:off x="8305801" y="2486204"/>
          <a:ext cx="3606801" cy="108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43" name="Диаграмма 42">
            <a:extLst>
              <a:ext uri="{FF2B5EF4-FFF2-40B4-BE49-F238E27FC236}">
                <a16:creationId xmlns:a16="http://schemas.microsoft.com/office/drawing/2014/main" id="{0130B009-9F31-4A09-9719-FDDA22266A7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01884550"/>
              </p:ext>
            </p:extLst>
          </p:nvPr>
        </p:nvGraphicFramePr>
        <p:xfrm>
          <a:off x="8305799" y="3994417"/>
          <a:ext cx="3606800" cy="108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276273F7-CC80-44A8-9EAC-148C5383F56E}"/>
              </a:ext>
            </a:extLst>
          </p:cNvPr>
          <p:cNvCxnSpPr>
            <a:cxnSpLocks/>
          </p:cNvCxnSpPr>
          <p:nvPr userDrawn="1"/>
        </p:nvCxnSpPr>
        <p:spPr>
          <a:xfrm flipV="1">
            <a:off x="9276080" y="2579025"/>
            <a:ext cx="0" cy="22173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9441BF36-05BB-4A82-8F30-697613F8C424}"/>
              </a:ext>
            </a:extLst>
          </p:cNvPr>
          <p:cNvCxnSpPr>
            <a:cxnSpLocks/>
          </p:cNvCxnSpPr>
          <p:nvPr userDrawn="1"/>
        </p:nvCxnSpPr>
        <p:spPr>
          <a:xfrm flipH="1">
            <a:off x="9270624" y="2579025"/>
            <a:ext cx="167169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5F3C2761-22DF-4BCB-99E1-D4D678C71993}"/>
              </a:ext>
            </a:extLst>
          </p:cNvPr>
          <p:cNvCxnSpPr>
            <a:cxnSpLocks/>
          </p:cNvCxnSpPr>
          <p:nvPr userDrawn="1"/>
        </p:nvCxnSpPr>
        <p:spPr>
          <a:xfrm>
            <a:off x="10942320" y="2579027"/>
            <a:ext cx="0" cy="12440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ED166DFE-0CF9-4467-8E4D-CB256B4A7D8C}"/>
              </a:ext>
            </a:extLst>
          </p:cNvPr>
          <p:cNvCxnSpPr>
            <a:cxnSpLocks/>
          </p:cNvCxnSpPr>
          <p:nvPr userDrawn="1"/>
        </p:nvCxnSpPr>
        <p:spPr>
          <a:xfrm flipV="1">
            <a:off x="9276080" y="4068344"/>
            <a:ext cx="0" cy="8794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3FAFB2F1-31A3-4088-9588-2CAD8CE92285}"/>
              </a:ext>
            </a:extLst>
          </p:cNvPr>
          <p:cNvCxnSpPr>
            <a:cxnSpLocks/>
          </p:cNvCxnSpPr>
          <p:nvPr userDrawn="1"/>
        </p:nvCxnSpPr>
        <p:spPr>
          <a:xfrm flipH="1">
            <a:off x="9270624" y="4068344"/>
            <a:ext cx="167169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0C4879E4-292F-4D8C-B15A-464D16E4A1A6}"/>
              </a:ext>
            </a:extLst>
          </p:cNvPr>
          <p:cNvCxnSpPr>
            <a:cxnSpLocks/>
          </p:cNvCxnSpPr>
          <p:nvPr userDrawn="1"/>
        </p:nvCxnSpPr>
        <p:spPr>
          <a:xfrm>
            <a:off x="10942320" y="4068344"/>
            <a:ext cx="0" cy="28690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id="{18ABDAAF-15AD-4945-A59C-861800509FD7}"/>
              </a:ext>
            </a:extLst>
          </p:cNvPr>
          <p:cNvGrpSpPr/>
          <p:nvPr userDrawn="1"/>
        </p:nvGrpSpPr>
        <p:grpSpPr>
          <a:xfrm>
            <a:off x="9270624" y="5566943"/>
            <a:ext cx="1671696" cy="286909"/>
            <a:chOff x="9270624" y="5567790"/>
            <a:chExt cx="1671696" cy="286909"/>
          </a:xfrm>
        </p:grpSpPr>
        <p:cxnSp>
          <p:nvCxnSpPr>
            <p:cNvPr id="67" name="Прямая соединительная линия 66">
              <a:extLst>
                <a:ext uri="{FF2B5EF4-FFF2-40B4-BE49-F238E27FC236}">
                  <a16:creationId xmlns:a16="http://schemas.microsoft.com/office/drawing/2014/main" id="{03618FDA-8E6C-4ADB-88B6-25E7C9A9D2C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276080" y="5567790"/>
              <a:ext cx="0" cy="8794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>
              <a:extLst>
                <a:ext uri="{FF2B5EF4-FFF2-40B4-BE49-F238E27FC236}">
                  <a16:creationId xmlns:a16="http://schemas.microsoft.com/office/drawing/2014/main" id="{B595AF57-F0EB-42DF-AB43-EB836ED900A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270624" y="5567790"/>
              <a:ext cx="1671696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Прямая со стрелкой 68">
              <a:extLst>
                <a:ext uri="{FF2B5EF4-FFF2-40B4-BE49-F238E27FC236}">
                  <a16:creationId xmlns:a16="http://schemas.microsoft.com/office/drawing/2014/main" id="{2AA6DC7F-53B3-4B38-B26E-BC0BD23866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942320" y="5567790"/>
              <a:ext cx="0" cy="28690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70" name="Диаграмма 69">
            <a:extLst>
              <a:ext uri="{FF2B5EF4-FFF2-40B4-BE49-F238E27FC236}">
                <a16:creationId xmlns:a16="http://schemas.microsoft.com/office/drawing/2014/main" id="{36ABC2AF-90A2-4712-BAAB-A0633301EB6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192200644"/>
              </p:ext>
            </p:extLst>
          </p:nvPr>
        </p:nvGraphicFramePr>
        <p:xfrm>
          <a:off x="8305799" y="5495288"/>
          <a:ext cx="3606800" cy="108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3" name="Стрелка: вниз 72">
            <a:extLst>
              <a:ext uri="{FF2B5EF4-FFF2-40B4-BE49-F238E27FC236}">
                <a16:creationId xmlns:a16="http://schemas.microsoft.com/office/drawing/2014/main" id="{2259E48A-40F0-4FC1-ABBB-D3E35C0F9795}"/>
              </a:ext>
            </a:extLst>
          </p:cNvPr>
          <p:cNvSpPr/>
          <p:nvPr userDrawn="1"/>
        </p:nvSpPr>
        <p:spPr>
          <a:xfrm rot="10800000">
            <a:off x="8425135" y="2160055"/>
            <a:ext cx="160020" cy="212404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2C334731-BEC0-43FD-899B-22B6FA575C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25133" y="2130754"/>
            <a:ext cx="3385491" cy="311151"/>
          </a:xfrm>
        </p:spPr>
        <p:txBody>
          <a:bodyPr vert="horz" wrap="square" lIns="180000" tIns="0" rIns="180000" bIns="0" rtlCol="0" anchor="ctr">
            <a:noAutofit/>
          </a:bodyPr>
          <a:lstStyle>
            <a:lvl1pPr marL="0" indent="0" algn="ctr">
              <a:buNone/>
              <a:defRPr lang="ru-RU" sz="1500" b="1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589" lvl="0" indent="-228589"/>
            <a:r>
              <a:rPr lang="ru-RU"/>
              <a:t>Выработка, ед. изм.</a:t>
            </a:r>
          </a:p>
        </p:txBody>
      </p:sp>
      <p:sp>
        <p:nvSpPr>
          <p:cNvPr id="78" name="Текст 76">
            <a:extLst>
              <a:ext uri="{FF2B5EF4-FFF2-40B4-BE49-F238E27FC236}">
                <a16:creationId xmlns:a16="http://schemas.microsoft.com/office/drawing/2014/main" id="{4472D27B-ECB8-4AF7-8C4D-A83E391BA6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56435" y="2779726"/>
            <a:ext cx="1122892" cy="28575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/>
              <a:t>+XX</a:t>
            </a:r>
            <a:r>
              <a:rPr lang="ru-RU"/>
              <a:t>%</a:t>
            </a:r>
          </a:p>
        </p:txBody>
      </p:sp>
      <p:sp>
        <p:nvSpPr>
          <p:cNvPr id="79" name="Стрелка: вниз 78">
            <a:extLst>
              <a:ext uri="{FF2B5EF4-FFF2-40B4-BE49-F238E27FC236}">
                <a16:creationId xmlns:a16="http://schemas.microsoft.com/office/drawing/2014/main" id="{AA397730-4CC6-4176-91D4-A7A55B8638DE}"/>
              </a:ext>
            </a:extLst>
          </p:cNvPr>
          <p:cNvSpPr/>
          <p:nvPr userDrawn="1"/>
        </p:nvSpPr>
        <p:spPr>
          <a:xfrm>
            <a:off x="8425135" y="3679263"/>
            <a:ext cx="160020" cy="212404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84" name="Стрелка: вниз 83">
            <a:extLst>
              <a:ext uri="{FF2B5EF4-FFF2-40B4-BE49-F238E27FC236}">
                <a16:creationId xmlns:a16="http://schemas.microsoft.com/office/drawing/2014/main" id="{B559F30E-9C0A-46D1-BB8F-976113884CCC}"/>
              </a:ext>
            </a:extLst>
          </p:cNvPr>
          <p:cNvSpPr/>
          <p:nvPr userDrawn="1"/>
        </p:nvSpPr>
        <p:spPr>
          <a:xfrm>
            <a:off x="8425135" y="5179451"/>
            <a:ext cx="160020" cy="212404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90" name="Текст 89">
            <a:extLst>
              <a:ext uri="{FF2B5EF4-FFF2-40B4-BE49-F238E27FC236}">
                <a16:creationId xmlns:a16="http://schemas.microsoft.com/office/drawing/2014/main" id="{A8A6CF97-3C34-490F-9DA1-BEE6EE83B91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3791" y="5805481"/>
            <a:ext cx="2086648" cy="524408"/>
          </a:xfrm>
        </p:spPr>
        <p:txBody>
          <a:bodyPr lIns="0" rIns="0">
            <a:noAutofit/>
          </a:bodyPr>
          <a:lstStyle>
            <a:lvl1pPr marL="0" indent="0" algn="r">
              <a:buNone/>
              <a:defRPr lang="ru-RU" sz="3600" b="1" kern="1200" dirty="0">
                <a:ln w="6600">
                  <a:solidFill>
                    <a:srgbClr val="0070C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0070C0"/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/>
              <a:t>+</a:t>
            </a:r>
            <a:r>
              <a:rPr lang="en-US"/>
              <a:t>XX%</a:t>
            </a:r>
            <a:endParaRPr lang="ru-RU"/>
          </a:p>
        </p:txBody>
      </p:sp>
      <p:sp>
        <p:nvSpPr>
          <p:cNvPr id="91" name="Текст 35">
            <a:extLst>
              <a:ext uri="{FF2B5EF4-FFF2-40B4-BE49-F238E27FC236}">
                <a16:creationId xmlns:a16="http://schemas.microsoft.com/office/drawing/2014/main" id="{7C425C0E-6771-43CA-B36A-8AD42AEB99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49531" y="5803289"/>
            <a:ext cx="4556271" cy="507831"/>
          </a:xfrm>
        </p:spPr>
        <p:txBody>
          <a:bodyPr wrap="square">
            <a:spAutoFit/>
          </a:bodyPr>
          <a:lstStyle>
            <a:lvl1pPr marL="0" indent="0">
              <a:buClr>
                <a:srgbClr val="0070C0"/>
              </a:buClr>
              <a:buFont typeface="+mj-lt"/>
              <a:buNone/>
              <a:defRPr sz="15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/>
              <a:t>Дополнительный комментарий (к НЗП или прямому эк. эффекту)</a:t>
            </a:r>
          </a:p>
        </p:txBody>
      </p:sp>
      <p:sp>
        <p:nvSpPr>
          <p:cNvPr id="92" name="Текст 74">
            <a:extLst>
              <a:ext uri="{FF2B5EF4-FFF2-40B4-BE49-F238E27FC236}">
                <a16:creationId xmlns:a16="http://schemas.microsoft.com/office/drawing/2014/main" id="{AF4B6396-E781-4381-B4DA-1BADFDB04F3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25133" y="3629241"/>
            <a:ext cx="3385491" cy="311151"/>
          </a:xfrm>
        </p:spPr>
        <p:txBody>
          <a:bodyPr vert="horz" wrap="square" lIns="180000" tIns="0" rIns="180000" bIns="0" rtlCol="0" anchor="ctr">
            <a:noAutofit/>
          </a:bodyPr>
          <a:lstStyle>
            <a:lvl1pPr marL="0" indent="0" algn="ctr">
              <a:buNone/>
              <a:defRPr lang="ru-RU" sz="1500" b="1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589" lvl="0" indent="-228589"/>
            <a:r>
              <a:rPr lang="ru-RU"/>
              <a:t>НЗП в потоке, ед. изм.</a:t>
            </a:r>
          </a:p>
        </p:txBody>
      </p:sp>
      <p:sp>
        <p:nvSpPr>
          <p:cNvPr id="93" name="Текст 74">
            <a:extLst>
              <a:ext uri="{FF2B5EF4-FFF2-40B4-BE49-F238E27FC236}">
                <a16:creationId xmlns:a16="http://schemas.microsoft.com/office/drawing/2014/main" id="{A419171E-2630-4967-B257-AD40022120C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25133" y="5126345"/>
            <a:ext cx="3385491" cy="311151"/>
          </a:xfrm>
        </p:spPr>
        <p:txBody>
          <a:bodyPr vert="horz" wrap="square" lIns="180000" tIns="0" rIns="180000" bIns="0" rtlCol="0" anchor="ctr">
            <a:noAutofit/>
          </a:bodyPr>
          <a:lstStyle>
            <a:lvl1pPr marL="0" indent="0" algn="ctr">
              <a:buNone/>
              <a:defRPr lang="ru-RU" sz="1500" b="1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589" lvl="0" indent="-228589"/>
            <a:r>
              <a:rPr lang="ru-RU"/>
              <a:t>ВПП объекта, ед. изм.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169EA4-9D0E-4FEB-B6BE-AC86A9C67FE2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930901" y="2858544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44" name="Объект 3">
            <a:extLst>
              <a:ext uri="{FF2B5EF4-FFF2-40B4-BE49-F238E27FC236}">
                <a16:creationId xmlns:a16="http://schemas.microsoft.com/office/drawing/2014/main" id="{04D0C788-9948-44E7-9B91-0E274AA8ABF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589897" y="2814096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45" name="Объект 3">
            <a:extLst>
              <a:ext uri="{FF2B5EF4-FFF2-40B4-BE49-F238E27FC236}">
                <a16:creationId xmlns:a16="http://schemas.microsoft.com/office/drawing/2014/main" id="{9AB87E37-1B82-4C26-AF63-8281E564733C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8930901" y="4295712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48" name="Объект 3">
            <a:extLst>
              <a:ext uri="{FF2B5EF4-FFF2-40B4-BE49-F238E27FC236}">
                <a16:creationId xmlns:a16="http://schemas.microsoft.com/office/drawing/2014/main" id="{590ED328-E564-4A7B-B5CE-B0ED65ACF611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10589897" y="4390963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49" name="Объект 3">
            <a:extLst>
              <a:ext uri="{FF2B5EF4-FFF2-40B4-BE49-F238E27FC236}">
                <a16:creationId xmlns:a16="http://schemas.microsoft.com/office/drawing/2014/main" id="{637994A3-6710-4285-9D6C-4C5DD04F8B21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8930901" y="5796632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51" name="Объект 3">
            <a:extLst>
              <a:ext uri="{FF2B5EF4-FFF2-40B4-BE49-F238E27FC236}">
                <a16:creationId xmlns:a16="http://schemas.microsoft.com/office/drawing/2014/main" id="{8559EDF1-C875-4B6F-BA10-8192EA4D7C70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10589897" y="5891884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52" name="Текст 76">
            <a:extLst>
              <a:ext uri="{FF2B5EF4-FFF2-40B4-BE49-F238E27FC236}">
                <a16:creationId xmlns:a16="http://schemas.microsoft.com/office/drawing/2014/main" id="{599F75EF-EF5B-4A3D-B489-7EBEF16E90E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56435" y="4250630"/>
            <a:ext cx="1122892" cy="28575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ru-RU"/>
              <a:t>-</a:t>
            </a:r>
            <a:r>
              <a:rPr lang="en-US"/>
              <a:t>XX</a:t>
            </a:r>
            <a:r>
              <a:rPr lang="ru-RU"/>
              <a:t>%</a:t>
            </a:r>
          </a:p>
        </p:txBody>
      </p:sp>
      <p:sp>
        <p:nvSpPr>
          <p:cNvPr id="53" name="Текст 76">
            <a:extLst>
              <a:ext uri="{FF2B5EF4-FFF2-40B4-BE49-F238E27FC236}">
                <a16:creationId xmlns:a16="http://schemas.microsoft.com/office/drawing/2014/main" id="{4B0387DB-6983-4692-BE8A-67B19E9E589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56435" y="5749329"/>
            <a:ext cx="1122892" cy="28575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ru-RU"/>
              <a:t>-</a:t>
            </a:r>
            <a:r>
              <a:rPr lang="en-US"/>
              <a:t>XX</a:t>
            </a:r>
            <a:r>
              <a:rPr lang="ru-RU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97537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0088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B73BD-475E-4082-ACFD-29612C1A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5F80E5-55F3-4A16-823E-99272333D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9BC011-7245-4050-8A12-2D5DEA192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F14EE-7455-4042-86BC-133D499D01AE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BD0889-34B0-4171-B5D5-0B0EACFA7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0A922C-31A3-4D99-87E8-5057D0723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469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Google Shape;615;gf9645b2320_6_610"/>
          <p:cNvGrpSpPr/>
          <p:nvPr/>
        </p:nvGrpSpPr>
        <p:grpSpPr>
          <a:xfrm>
            <a:off x="0" y="0"/>
            <a:ext cx="7275784" cy="1307677"/>
            <a:chOff x="0" y="0"/>
            <a:chExt cx="11998325" cy="2156460"/>
          </a:xfrm>
        </p:grpSpPr>
        <p:sp>
          <p:nvSpPr>
            <p:cNvPr id="616" name="Google Shape;616;gf9645b2320_6_610"/>
            <p:cNvSpPr/>
            <p:nvPr/>
          </p:nvSpPr>
          <p:spPr>
            <a:xfrm>
              <a:off x="0" y="0"/>
              <a:ext cx="7669530" cy="2156460"/>
            </a:xfrm>
            <a:custGeom>
              <a:avLst/>
              <a:gdLst/>
              <a:ahLst/>
              <a:cxnLst/>
              <a:rect l="l" t="t" r="r" b="b"/>
              <a:pathLst>
                <a:path w="7669530" h="2156460" extrusionOk="0">
                  <a:moveTo>
                    <a:pt x="7669123" y="0"/>
                  </a:moveTo>
                  <a:lnTo>
                    <a:pt x="0" y="0"/>
                  </a:lnTo>
                  <a:lnTo>
                    <a:pt x="0" y="2155963"/>
                  </a:lnTo>
                  <a:lnTo>
                    <a:pt x="7669123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7" name="Google Shape;617;gf9645b2320_6_610"/>
            <p:cNvSpPr/>
            <p:nvPr/>
          </p:nvSpPr>
          <p:spPr>
            <a:xfrm>
              <a:off x="0" y="0"/>
              <a:ext cx="7669530" cy="2156460"/>
            </a:xfrm>
            <a:custGeom>
              <a:avLst/>
              <a:gdLst/>
              <a:ahLst/>
              <a:cxnLst/>
              <a:rect l="l" t="t" r="r" b="b"/>
              <a:pathLst>
                <a:path w="7669530" h="2156460" extrusionOk="0">
                  <a:moveTo>
                    <a:pt x="7668942" y="0"/>
                  </a:moveTo>
                  <a:lnTo>
                    <a:pt x="0" y="2155901"/>
                  </a:lnTo>
                </a:path>
              </a:pathLst>
            </a:custGeom>
            <a:noFill/>
            <a:ln w="368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8" name="Google Shape;618;gf9645b2320_6_610"/>
            <p:cNvSpPr/>
            <p:nvPr/>
          </p:nvSpPr>
          <p:spPr>
            <a:xfrm>
              <a:off x="0" y="0"/>
              <a:ext cx="11242040" cy="1037590"/>
            </a:xfrm>
            <a:custGeom>
              <a:avLst/>
              <a:gdLst/>
              <a:ahLst/>
              <a:cxnLst/>
              <a:rect l="l" t="t" r="r" b="b"/>
              <a:pathLst>
                <a:path w="11242040" h="1037590" extrusionOk="0">
                  <a:moveTo>
                    <a:pt x="11241584" y="0"/>
                  </a:moveTo>
                  <a:lnTo>
                    <a:pt x="0" y="0"/>
                  </a:lnTo>
                  <a:lnTo>
                    <a:pt x="0" y="1037132"/>
                  </a:lnTo>
                  <a:lnTo>
                    <a:pt x="11241584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9" name="Google Shape;619;gf9645b2320_6_610"/>
            <p:cNvSpPr/>
            <p:nvPr/>
          </p:nvSpPr>
          <p:spPr>
            <a:xfrm>
              <a:off x="0" y="0"/>
              <a:ext cx="11242675" cy="1037590"/>
            </a:xfrm>
            <a:custGeom>
              <a:avLst/>
              <a:gdLst/>
              <a:ahLst/>
              <a:cxnLst/>
              <a:rect l="l" t="t" r="r" b="b"/>
              <a:pathLst>
                <a:path w="11242675" h="1037590" extrusionOk="0">
                  <a:moveTo>
                    <a:pt x="11242098" y="0"/>
                  </a:moveTo>
                  <a:lnTo>
                    <a:pt x="0" y="1037174"/>
                  </a:lnTo>
                </a:path>
              </a:pathLst>
            </a:custGeom>
            <a:noFill/>
            <a:ln w="554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0" name="Google Shape;620;gf9645b2320_6_610"/>
            <p:cNvSpPr/>
            <p:nvPr/>
          </p:nvSpPr>
          <p:spPr>
            <a:xfrm>
              <a:off x="0" y="0"/>
              <a:ext cx="11998325" cy="568325"/>
            </a:xfrm>
            <a:custGeom>
              <a:avLst/>
              <a:gdLst/>
              <a:ahLst/>
              <a:cxnLst/>
              <a:rect l="l" t="t" r="r" b="b"/>
              <a:pathLst>
                <a:path w="11998325" h="568325" extrusionOk="0">
                  <a:moveTo>
                    <a:pt x="11997938" y="0"/>
                  </a:moveTo>
                  <a:lnTo>
                    <a:pt x="2949786" y="0"/>
                  </a:lnTo>
                  <a:lnTo>
                    <a:pt x="0" y="567161"/>
                  </a:lnTo>
                  <a:lnTo>
                    <a:pt x="0" y="568317"/>
                  </a:lnTo>
                  <a:lnTo>
                    <a:pt x="11997938" y="0"/>
                  </a:lnTo>
                  <a:close/>
                </a:path>
              </a:pathLst>
            </a:custGeom>
            <a:solidFill>
              <a:srgbClr val="0052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1" name="Google Shape;621;gf9645b2320_6_610"/>
            <p:cNvSpPr/>
            <p:nvPr/>
          </p:nvSpPr>
          <p:spPr>
            <a:xfrm>
              <a:off x="5620000" y="0"/>
              <a:ext cx="4999355" cy="236854"/>
            </a:xfrm>
            <a:custGeom>
              <a:avLst/>
              <a:gdLst/>
              <a:ahLst/>
              <a:cxnLst/>
              <a:rect l="l" t="t" r="r" b="b"/>
              <a:pathLst>
                <a:path w="4999355" h="236854" extrusionOk="0">
                  <a:moveTo>
                    <a:pt x="4999123" y="0"/>
                  </a:moveTo>
                  <a:lnTo>
                    <a:pt x="1231476" y="0"/>
                  </a:lnTo>
                  <a:lnTo>
                    <a:pt x="0" y="236776"/>
                  </a:lnTo>
                  <a:lnTo>
                    <a:pt x="4999123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sp>
        <p:nvSpPr>
          <p:cNvPr id="622" name="Google Shape;622;gf9645b2320_6_610"/>
          <p:cNvSpPr txBox="1"/>
          <p:nvPr/>
        </p:nvSpPr>
        <p:spPr>
          <a:xfrm>
            <a:off x="2396067" y="27633"/>
            <a:ext cx="7994800" cy="12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r"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1707">
                <a:solidFill>
                  <a:srgbClr val="09469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ПРИМЕРЫ ВСКРЫТИЯ РЕЗЕРВОВ ПРОИЗВОДИТЕЛЬНОСТИ</a:t>
            </a:r>
            <a:endParaRPr sz="1707">
              <a:solidFill>
                <a:srgbClr val="094697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23" name="Google Shape;623;gf9645b2320_6_610" descr="Изображение выглядит как рисунок, часы, знак&#10;&#10;Автоматически созданное описа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7676" y="315834"/>
            <a:ext cx="1356565" cy="5813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4" name="Google Shape;624;gf9645b2320_6_610"/>
          <p:cNvGrpSpPr/>
          <p:nvPr/>
        </p:nvGrpSpPr>
        <p:grpSpPr>
          <a:xfrm>
            <a:off x="2248755" y="956926"/>
            <a:ext cx="773527" cy="773527"/>
            <a:chOff x="4698101" y="6662812"/>
            <a:chExt cx="1403350" cy="1403350"/>
          </a:xfrm>
        </p:grpSpPr>
        <p:sp>
          <p:nvSpPr>
            <p:cNvPr id="625" name="Google Shape;625;gf9645b2320_6_610"/>
            <p:cNvSpPr/>
            <p:nvPr/>
          </p:nvSpPr>
          <p:spPr>
            <a:xfrm>
              <a:off x="4698101" y="6662812"/>
              <a:ext cx="1403350" cy="1403350"/>
            </a:xfrm>
            <a:custGeom>
              <a:avLst/>
              <a:gdLst/>
              <a:ahLst/>
              <a:cxnLst/>
              <a:rect l="l" t="t" r="r" b="b"/>
              <a:pathLst>
                <a:path w="1403350" h="1403350" extrusionOk="0">
                  <a:moveTo>
                    <a:pt x="701545" y="0"/>
                  </a:moveTo>
                  <a:lnTo>
                    <a:pt x="653512" y="1618"/>
                  </a:lnTo>
                  <a:lnTo>
                    <a:pt x="606348" y="6404"/>
                  </a:lnTo>
                  <a:lnTo>
                    <a:pt x="560158" y="14253"/>
                  </a:lnTo>
                  <a:lnTo>
                    <a:pt x="515045" y="25060"/>
                  </a:lnTo>
                  <a:lnTo>
                    <a:pt x="471114" y="38721"/>
                  </a:lnTo>
                  <a:lnTo>
                    <a:pt x="428470" y="55132"/>
                  </a:lnTo>
                  <a:lnTo>
                    <a:pt x="387217" y="74187"/>
                  </a:lnTo>
                  <a:lnTo>
                    <a:pt x="347460" y="95783"/>
                  </a:lnTo>
                  <a:lnTo>
                    <a:pt x="309303" y="119815"/>
                  </a:lnTo>
                  <a:lnTo>
                    <a:pt x="272850" y="146178"/>
                  </a:lnTo>
                  <a:lnTo>
                    <a:pt x="238206" y="174768"/>
                  </a:lnTo>
                  <a:lnTo>
                    <a:pt x="205476" y="205481"/>
                  </a:lnTo>
                  <a:lnTo>
                    <a:pt x="174764" y="238211"/>
                  </a:lnTo>
                  <a:lnTo>
                    <a:pt x="146174" y="272855"/>
                  </a:lnTo>
                  <a:lnTo>
                    <a:pt x="119811" y="309308"/>
                  </a:lnTo>
                  <a:lnTo>
                    <a:pt x="95780" y="347465"/>
                  </a:lnTo>
                  <a:lnTo>
                    <a:pt x="74185" y="387223"/>
                  </a:lnTo>
                  <a:lnTo>
                    <a:pt x="55130" y="428475"/>
                  </a:lnTo>
                  <a:lnTo>
                    <a:pt x="38720" y="471119"/>
                  </a:lnTo>
                  <a:lnTo>
                    <a:pt x="25059" y="515049"/>
                  </a:lnTo>
                  <a:lnTo>
                    <a:pt x="14252" y="560161"/>
                  </a:lnTo>
                  <a:lnTo>
                    <a:pt x="6404" y="606351"/>
                  </a:lnTo>
                  <a:lnTo>
                    <a:pt x="1618" y="653514"/>
                  </a:lnTo>
                  <a:lnTo>
                    <a:pt x="0" y="701545"/>
                  </a:lnTo>
                  <a:lnTo>
                    <a:pt x="1618" y="749577"/>
                  </a:lnTo>
                  <a:lnTo>
                    <a:pt x="6404" y="796741"/>
                  </a:lnTo>
                  <a:lnTo>
                    <a:pt x="14252" y="842931"/>
                  </a:lnTo>
                  <a:lnTo>
                    <a:pt x="25059" y="888044"/>
                  </a:lnTo>
                  <a:lnTo>
                    <a:pt x="38720" y="931975"/>
                  </a:lnTo>
                  <a:lnTo>
                    <a:pt x="55130" y="974619"/>
                  </a:lnTo>
                  <a:lnTo>
                    <a:pt x="74185" y="1015872"/>
                  </a:lnTo>
                  <a:lnTo>
                    <a:pt x="95780" y="1055629"/>
                  </a:lnTo>
                  <a:lnTo>
                    <a:pt x="119811" y="1093787"/>
                  </a:lnTo>
                  <a:lnTo>
                    <a:pt x="146174" y="1130239"/>
                  </a:lnTo>
                  <a:lnTo>
                    <a:pt x="174764" y="1164883"/>
                  </a:lnTo>
                  <a:lnTo>
                    <a:pt x="205476" y="1197613"/>
                  </a:lnTo>
                  <a:lnTo>
                    <a:pt x="238206" y="1228325"/>
                  </a:lnTo>
                  <a:lnTo>
                    <a:pt x="272850" y="1256915"/>
                  </a:lnTo>
                  <a:lnTo>
                    <a:pt x="309303" y="1283278"/>
                  </a:lnTo>
                  <a:lnTo>
                    <a:pt x="347460" y="1307309"/>
                  </a:lnTo>
                  <a:lnTo>
                    <a:pt x="387217" y="1328904"/>
                  </a:lnTo>
                  <a:lnTo>
                    <a:pt x="428470" y="1347959"/>
                  </a:lnTo>
                  <a:lnTo>
                    <a:pt x="471114" y="1364369"/>
                  </a:lnTo>
                  <a:lnTo>
                    <a:pt x="515045" y="1378030"/>
                  </a:lnTo>
                  <a:lnTo>
                    <a:pt x="560158" y="1388837"/>
                  </a:lnTo>
                  <a:lnTo>
                    <a:pt x="606348" y="1396686"/>
                  </a:lnTo>
                  <a:lnTo>
                    <a:pt x="653512" y="1401471"/>
                  </a:lnTo>
                  <a:lnTo>
                    <a:pt x="701545" y="1403090"/>
                  </a:lnTo>
                  <a:lnTo>
                    <a:pt x="749577" y="1401471"/>
                  </a:lnTo>
                  <a:lnTo>
                    <a:pt x="796741" y="1396686"/>
                  </a:lnTo>
                  <a:lnTo>
                    <a:pt x="842931" y="1388837"/>
                  </a:lnTo>
                  <a:lnTo>
                    <a:pt x="888044" y="1378030"/>
                  </a:lnTo>
                  <a:lnTo>
                    <a:pt x="931975" y="1364369"/>
                  </a:lnTo>
                  <a:lnTo>
                    <a:pt x="974619" y="1347959"/>
                  </a:lnTo>
                  <a:lnTo>
                    <a:pt x="1015872" y="1328904"/>
                  </a:lnTo>
                  <a:lnTo>
                    <a:pt x="1055629" y="1307309"/>
                  </a:lnTo>
                  <a:lnTo>
                    <a:pt x="1093787" y="1283278"/>
                  </a:lnTo>
                  <a:lnTo>
                    <a:pt x="1130239" y="1256915"/>
                  </a:lnTo>
                  <a:lnTo>
                    <a:pt x="1164883" y="1228325"/>
                  </a:lnTo>
                  <a:lnTo>
                    <a:pt x="1197613" y="1197613"/>
                  </a:lnTo>
                  <a:lnTo>
                    <a:pt x="1228325" y="1164883"/>
                  </a:lnTo>
                  <a:lnTo>
                    <a:pt x="1256915" y="1130239"/>
                  </a:lnTo>
                  <a:lnTo>
                    <a:pt x="1283278" y="1093787"/>
                  </a:lnTo>
                  <a:lnTo>
                    <a:pt x="1307309" y="1055629"/>
                  </a:lnTo>
                  <a:lnTo>
                    <a:pt x="1328904" y="1015872"/>
                  </a:lnTo>
                  <a:lnTo>
                    <a:pt x="1347959" y="974619"/>
                  </a:lnTo>
                  <a:lnTo>
                    <a:pt x="1364369" y="931975"/>
                  </a:lnTo>
                  <a:lnTo>
                    <a:pt x="1378030" y="888044"/>
                  </a:lnTo>
                  <a:lnTo>
                    <a:pt x="1388837" y="842931"/>
                  </a:lnTo>
                  <a:lnTo>
                    <a:pt x="1396686" y="796741"/>
                  </a:lnTo>
                  <a:lnTo>
                    <a:pt x="1401471" y="749577"/>
                  </a:lnTo>
                  <a:lnTo>
                    <a:pt x="1403090" y="701545"/>
                  </a:lnTo>
                  <a:lnTo>
                    <a:pt x="1401471" y="653514"/>
                  </a:lnTo>
                  <a:lnTo>
                    <a:pt x="1396686" y="606351"/>
                  </a:lnTo>
                  <a:lnTo>
                    <a:pt x="1388837" y="560161"/>
                  </a:lnTo>
                  <a:lnTo>
                    <a:pt x="1378030" y="515049"/>
                  </a:lnTo>
                  <a:lnTo>
                    <a:pt x="1364369" y="471119"/>
                  </a:lnTo>
                  <a:lnTo>
                    <a:pt x="1347959" y="428475"/>
                  </a:lnTo>
                  <a:lnTo>
                    <a:pt x="1328904" y="387223"/>
                  </a:lnTo>
                  <a:lnTo>
                    <a:pt x="1307309" y="347465"/>
                  </a:lnTo>
                  <a:lnTo>
                    <a:pt x="1283278" y="309308"/>
                  </a:lnTo>
                  <a:lnTo>
                    <a:pt x="1256915" y="272855"/>
                  </a:lnTo>
                  <a:lnTo>
                    <a:pt x="1228325" y="238211"/>
                  </a:lnTo>
                  <a:lnTo>
                    <a:pt x="1197613" y="205481"/>
                  </a:lnTo>
                  <a:lnTo>
                    <a:pt x="1164883" y="174768"/>
                  </a:lnTo>
                  <a:lnTo>
                    <a:pt x="1130239" y="146178"/>
                  </a:lnTo>
                  <a:lnTo>
                    <a:pt x="1093787" y="119815"/>
                  </a:lnTo>
                  <a:lnTo>
                    <a:pt x="1055629" y="95783"/>
                  </a:lnTo>
                  <a:lnTo>
                    <a:pt x="1015872" y="74187"/>
                  </a:lnTo>
                  <a:lnTo>
                    <a:pt x="974619" y="55132"/>
                  </a:lnTo>
                  <a:lnTo>
                    <a:pt x="931975" y="38721"/>
                  </a:lnTo>
                  <a:lnTo>
                    <a:pt x="888044" y="25060"/>
                  </a:lnTo>
                  <a:lnTo>
                    <a:pt x="842931" y="14253"/>
                  </a:lnTo>
                  <a:lnTo>
                    <a:pt x="796741" y="6404"/>
                  </a:lnTo>
                  <a:lnTo>
                    <a:pt x="749577" y="1618"/>
                  </a:lnTo>
                  <a:lnTo>
                    <a:pt x="701545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6" name="Google Shape;626;gf9645b2320_6_610"/>
            <p:cNvSpPr/>
            <p:nvPr/>
          </p:nvSpPr>
          <p:spPr>
            <a:xfrm>
              <a:off x="5062425" y="7066075"/>
              <a:ext cx="717550" cy="644525"/>
            </a:xfrm>
            <a:custGeom>
              <a:avLst/>
              <a:gdLst/>
              <a:ahLst/>
              <a:cxnLst/>
              <a:rect l="l" t="t" r="r" b="b"/>
              <a:pathLst>
                <a:path w="717550" h="644525" extrusionOk="0">
                  <a:moveTo>
                    <a:pt x="236549" y="167366"/>
                  </a:moveTo>
                  <a:lnTo>
                    <a:pt x="231812" y="169829"/>
                  </a:lnTo>
                  <a:lnTo>
                    <a:pt x="227063" y="172103"/>
                  </a:lnTo>
                  <a:lnTo>
                    <a:pt x="224223" y="177029"/>
                  </a:lnTo>
                  <a:lnTo>
                    <a:pt x="224223" y="280326"/>
                  </a:lnTo>
                  <a:lnTo>
                    <a:pt x="6257" y="280326"/>
                  </a:lnTo>
                  <a:lnTo>
                    <a:pt x="0" y="286571"/>
                  </a:lnTo>
                  <a:lnTo>
                    <a:pt x="0" y="638154"/>
                  </a:lnTo>
                  <a:lnTo>
                    <a:pt x="6257" y="644411"/>
                  </a:lnTo>
                  <a:lnTo>
                    <a:pt x="711119" y="644411"/>
                  </a:lnTo>
                  <a:lnTo>
                    <a:pt x="717377" y="638154"/>
                  </a:lnTo>
                  <a:lnTo>
                    <a:pt x="717377" y="616542"/>
                  </a:lnTo>
                  <a:lnTo>
                    <a:pt x="28057" y="616542"/>
                  </a:lnTo>
                  <a:lnTo>
                    <a:pt x="28057" y="308359"/>
                  </a:lnTo>
                  <a:lnTo>
                    <a:pt x="252268" y="308359"/>
                  </a:lnTo>
                  <a:lnTo>
                    <a:pt x="252268" y="209622"/>
                  </a:lnTo>
                  <a:lnTo>
                    <a:pt x="300119" y="209622"/>
                  </a:lnTo>
                  <a:lnTo>
                    <a:pt x="242229" y="167743"/>
                  </a:lnTo>
                  <a:lnTo>
                    <a:pt x="236549" y="167366"/>
                  </a:lnTo>
                  <a:close/>
                </a:path>
                <a:path w="717550" h="644525" extrusionOk="0">
                  <a:moveTo>
                    <a:pt x="252268" y="308359"/>
                  </a:moveTo>
                  <a:lnTo>
                    <a:pt x="224223" y="308359"/>
                  </a:lnTo>
                  <a:lnTo>
                    <a:pt x="224223" y="336228"/>
                  </a:lnTo>
                  <a:lnTo>
                    <a:pt x="138554" y="336228"/>
                  </a:lnTo>
                  <a:lnTo>
                    <a:pt x="132109" y="342485"/>
                  </a:lnTo>
                  <a:lnTo>
                    <a:pt x="132109" y="358028"/>
                  </a:lnTo>
                  <a:lnTo>
                    <a:pt x="138554" y="364286"/>
                  </a:lnTo>
                  <a:lnTo>
                    <a:pt x="224223" y="364286"/>
                  </a:lnTo>
                  <a:lnTo>
                    <a:pt x="224223" y="392331"/>
                  </a:lnTo>
                  <a:lnTo>
                    <a:pt x="138554" y="392331"/>
                  </a:lnTo>
                  <a:lnTo>
                    <a:pt x="132109" y="398588"/>
                  </a:lnTo>
                  <a:lnTo>
                    <a:pt x="132109" y="414119"/>
                  </a:lnTo>
                  <a:lnTo>
                    <a:pt x="138554" y="420376"/>
                  </a:lnTo>
                  <a:lnTo>
                    <a:pt x="224223" y="420376"/>
                  </a:lnTo>
                  <a:lnTo>
                    <a:pt x="224223" y="448434"/>
                  </a:lnTo>
                  <a:lnTo>
                    <a:pt x="179114" y="448434"/>
                  </a:lnTo>
                  <a:lnTo>
                    <a:pt x="172669" y="454691"/>
                  </a:lnTo>
                  <a:lnTo>
                    <a:pt x="172669" y="470046"/>
                  </a:lnTo>
                  <a:lnTo>
                    <a:pt x="179114" y="476291"/>
                  </a:lnTo>
                  <a:lnTo>
                    <a:pt x="224223" y="476291"/>
                  </a:lnTo>
                  <a:lnTo>
                    <a:pt x="224223" y="504336"/>
                  </a:lnTo>
                  <a:lnTo>
                    <a:pt x="138554" y="504336"/>
                  </a:lnTo>
                  <a:lnTo>
                    <a:pt x="132109" y="510593"/>
                  </a:lnTo>
                  <a:lnTo>
                    <a:pt x="132109" y="526136"/>
                  </a:lnTo>
                  <a:lnTo>
                    <a:pt x="138554" y="532394"/>
                  </a:lnTo>
                  <a:lnTo>
                    <a:pt x="224223" y="532394"/>
                  </a:lnTo>
                  <a:lnTo>
                    <a:pt x="224223" y="560439"/>
                  </a:lnTo>
                  <a:lnTo>
                    <a:pt x="138554" y="560439"/>
                  </a:lnTo>
                  <a:lnTo>
                    <a:pt x="132109" y="566696"/>
                  </a:lnTo>
                  <a:lnTo>
                    <a:pt x="132109" y="582239"/>
                  </a:lnTo>
                  <a:lnTo>
                    <a:pt x="138554" y="588484"/>
                  </a:lnTo>
                  <a:lnTo>
                    <a:pt x="224223" y="588484"/>
                  </a:lnTo>
                  <a:lnTo>
                    <a:pt x="224223" y="616542"/>
                  </a:lnTo>
                  <a:lnTo>
                    <a:pt x="252268" y="616542"/>
                  </a:lnTo>
                  <a:lnTo>
                    <a:pt x="252268" y="308359"/>
                  </a:lnTo>
                  <a:close/>
                </a:path>
                <a:path w="717550" h="644525" extrusionOk="0">
                  <a:moveTo>
                    <a:pt x="610146" y="209622"/>
                  </a:moveTo>
                  <a:lnTo>
                    <a:pt x="562336" y="209622"/>
                  </a:lnTo>
                  <a:lnTo>
                    <a:pt x="689331" y="301360"/>
                  </a:lnTo>
                  <a:lnTo>
                    <a:pt x="689331" y="616542"/>
                  </a:lnTo>
                  <a:lnTo>
                    <a:pt x="717377" y="616542"/>
                  </a:lnTo>
                  <a:lnTo>
                    <a:pt x="717377" y="289800"/>
                  </a:lnTo>
                  <a:lnTo>
                    <a:pt x="715090" y="285628"/>
                  </a:lnTo>
                  <a:lnTo>
                    <a:pt x="711496" y="282977"/>
                  </a:lnTo>
                  <a:lnTo>
                    <a:pt x="610146" y="209622"/>
                  </a:lnTo>
                  <a:close/>
                </a:path>
                <a:path w="717550" h="644525" extrusionOk="0">
                  <a:moveTo>
                    <a:pt x="300119" y="209622"/>
                  </a:moveTo>
                  <a:lnTo>
                    <a:pt x="252268" y="209622"/>
                  </a:lnTo>
                  <a:lnTo>
                    <a:pt x="389303" y="308748"/>
                  </a:lnTo>
                  <a:lnTo>
                    <a:pt x="394982" y="309125"/>
                  </a:lnTo>
                  <a:lnTo>
                    <a:pt x="399531" y="306662"/>
                  </a:lnTo>
                  <a:lnTo>
                    <a:pt x="404268" y="304388"/>
                  </a:lnTo>
                  <a:lnTo>
                    <a:pt x="407296" y="299463"/>
                  </a:lnTo>
                  <a:lnTo>
                    <a:pt x="407296" y="266869"/>
                  </a:lnTo>
                  <a:lnTo>
                    <a:pt x="379251" y="266869"/>
                  </a:lnTo>
                  <a:lnTo>
                    <a:pt x="300119" y="209622"/>
                  </a:lnTo>
                  <a:close/>
                </a:path>
                <a:path w="717550" h="644525" extrusionOk="0">
                  <a:moveTo>
                    <a:pt x="455159" y="209622"/>
                  </a:moveTo>
                  <a:lnTo>
                    <a:pt x="407296" y="209622"/>
                  </a:lnTo>
                  <a:lnTo>
                    <a:pt x="539970" y="305720"/>
                  </a:lnTo>
                  <a:lnTo>
                    <a:pt x="544343" y="308748"/>
                  </a:lnTo>
                  <a:lnTo>
                    <a:pt x="550023" y="309125"/>
                  </a:lnTo>
                  <a:lnTo>
                    <a:pt x="554571" y="306662"/>
                  </a:lnTo>
                  <a:lnTo>
                    <a:pt x="559308" y="304388"/>
                  </a:lnTo>
                  <a:lnTo>
                    <a:pt x="562336" y="299463"/>
                  </a:lnTo>
                  <a:lnTo>
                    <a:pt x="562336" y="266869"/>
                  </a:lnTo>
                  <a:lnTo>
                    <a:pt x="534291" y="266869"/>
                  </a:lnTo>
                  <a:lnTo>
                    <a:pt x="455159" y="209622"/>
                  </a:lnTo>
                  <a:close/>
                </a:path>
                <a:path w="717550" h="644525" extrusionOk="0">
                  <a:moveTo>
                    <a:pt x="170206" y="0"/>
                  </a:moveTo>
                  <a:lnTo>
                    <a:pt x="82087" y="0"/>
                  </a:lnTo>
                  <a:lnTo>
                    <a:pt x="76006" y="5880"/>
                  </a:lnTo>
                  <a:lnTo>
                    <a:pt x="75440" y="13080"/>
                  </a:lnTo>
                  <a:lnTo>
                    <a:pt x="57057" y="280326"/>
                  </a:lnTo>
                  <a:lnTo>
                    <a:pt x="85115" y="280326"/>
                  </a:lnTo>
                  <a:lnTo>
                    <a:pt x="87000" y="252281"/>
                  </a:lnTo>
                  <a:lnTo>
                    <a:pt x="124720" y="252281"/>
                  </a:lnTo>
                  <a:lnTo>
                    <a:pt x="130978" y="246023"/>
                  </a:lnTo>
                  <a:lnTo>
                    <a:pt x="130978" y="230468"/>
                  </a:lnTo>
                  <a:lnTo>
                    <a:pt x="124720" y="224223"/>
                  </a:lnTo>
                  <a:lnTo>
                    <a:pt x="88910" y="224223"/>
                  </a:lnTo>
                  <a:lnTo>
                    <a:pt x="102543" y="28057"/>
                  </a:lnTo>
                  <a:lnTo>
                    <a:pt x="177870" y="28057"/>
                  </a:lnTo>
                  <a:lnTo>
                    <a:pt x="176840" y="13080"/>
                  </a:lnTo>
                  <a:lnTo>
                    <a:pt x="176275" y="5880"/>
                  </a:lnTo>
                  <a:lnTo>
                    <a:pt x="170206" y="0"/>
                  </a:lnTo>
                  <a:close/>
                </a:path>
                <a:path w="717550" h="644525" extrusionOk="0">
                  <a:moveTo>
                    <a:pt x="177870" y="28057"/>
                  </a:moveTo>
                  <a:lnTo>
                    <a:pt x="149737" y="28057"/>
                  </a:lnTo>
                  <a:lnTo>
                    <a:pt x="167178" y="280326"/>
                  </a:lnTo>
                  <a:lnTo>
                    <a:pt x="195223" y="280326"/>
                  </a:lnTo>
                  <a:lnTo>
                    <a:pt x="177870" y="28057"/>
                  </a:lnTo>
                  <a:close/>
                </a:path>
                <a:path w="717550" h="644525" extrusionOk="0">
                  <a:moveTo>
                    <a:pt x="391565" y="167366"/>
                  </a:moveTo>
                  <a:lnTo>
                    <a:pt x="386828" y="169829"/>
                  </a:lnTo>
                  <a:lnTo>
                    <a:pt x="382090" y="172103"/>
                  </a:lnTo>
                  <a:lnTo>
                    <a:pt x="379251" y="177029"/>
                  </a:lnTo>
                  <a:lnTo>
                    <a:pt x="379251" y="266869"/>
                  </a:lnTo>
                  <a:lnTo>
                    <a:pt x="407296" y="266869"/>
                  </a:lnTo>
                  <a:lnTo>
                    <a:pt x="407296" y="209622"/>
                  </a:lnTo>
                  <a:lnTo>
                    <a:pt x="455159" y="209622"/>
                  </a:lnTo>
                  <a:lnTo>
                    <a:pt x="397269" y="167743"/>
                  </a:lnTo>
                  <a:lnTo>
                    <a:pt x="391565" y="167366"/>
                  </a:lnTo>
                  <a:close/>
                </a:path>
                <a:path w="717550" h="644525" extrusionOk="0">
                  <a:moveTo>
                    <a:pt x="546605" y="167366"/>
                  </a:moveTo>
                  <a:lnTo>
                    <a:pt x="541868" y="169829"/>
                  </a:lnTo>
                  <a:lnTo>
                    <a:pt x="537131" y="172103"/>
                  </a:lnTo>
                  <a:lnTo>
                    <a:pt x="534291" y="177029"/>
                  </a:lnTo>
                  <a:lnTo>
                    <a:pt x="534291" y="266869"/>
                  </a:lnTo>
                  <a:lnTo>
                    <a:pt x="562336" y="266869"/>
                  </a:lnTo>
                  <a:lnTo>
                    <a:pt x="562336" y="209622"/>
                  </a:lnTo>
                  <a:lnTo>
                    <a:pt x="610146" y="209622"/>
                  </a:lnTo>
                  <a:lnTo>
                    <a:pt x="552284" y="167743"/>
                  </a:lnTo>
                  <a:lnTo>
                    <a:pt x="546605" y="1673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7" name="Google Shape;627;gf9645b2320_6_610"/>
            <p:cNvSpPr/>
            <p:nvPr/>
          </p:nvSpPr>
          <p:spPr>
            <a:xfrm>
              <a:off x="5575306" y="7458407"/>
              <a:ext cx="84000" cy="84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8" name="Google Shape;628;gf9645b2320_6_610"/>
            <p:cNvSpPr/>
            <p:nvPr/>
          </p:nvSpPr>
          <p:spPr>
            <a:xfrm>
              <a:off x="5178044" y="6991838"/>
              <a:ext cx="349250" cy="662940"/>
            </a:xfrm>
            <a:custGeom>
              <a:avLst/>
              <a:gdLst/>
              <a:ahLst/>
              <a:cxnLst/>
              <a:rect l="l" t="t" r="r" b="b"/>
              <a:pathLst>
                <a:path w="349250" h="662940" extrusionOk="0">
                  <a:moveTo>
                    <a:pt x="322757" y="39370"/>
                  </a:moveTo>
                  <a:lnTo>
                    <a:pt x="312724" y="29337"/>
                  </a:lnTo>
                  <a:lnTo>
                    <a:pt x="304380" y="29337"/>
                  </a:lnTo>
                  <a:lnTo>
                    <a:pt x="299262" y="34264"/>
                  </a:lnTo>
                  <a:lnTo>
                    <a:pt x="285445" y="45720"/>
                  </a:lnTo>
                  <a:lnTo>
                    <a:pt x="269836" y="54089"/>
                  </a:lnTo>
                  <a:lnTo>
                    <a:pt x="252882" y="59232"/>
                  </a:lnTo>
                  <a:lnTo>
                    <a:pt x="235013" y="60985"/>
                  </a:lnTo>
                  <a:lnTo>
                    <a:pt x="217131" y="59232"/>
                  </a:lnTo>
                  <a:lnTo>
                    <a:pt x="200164" y="54089"/>
                  </a:lnTo>
                  <a:lnTo>
                    <a:pt x="184505" y="45720"/>
                  </a:lnTo>
                  <a:lnTo>
                    <a:pt x="170586" y="34264"/>
                  </a:lnTo>
                  <a:lnTo>
                    <a:pt x="131876" y="8572"/>
                  </a:lnTo>
                  <a:lnTo>
                    <a:pt x="87845" y="0"/>
                  </a:lnTo>
                  <a:lnTo>
                    <a:pt x="43815" y="8572"/>
                  </a:lnTo>
                  <a:lnTo>
                    <a:pt x="5118" y="34264"/>
                  </a:lnTo>
                  <a:lnTo>
                    <a:pt x="0" y="39370"/>
                  </a:lnTo>
                  <a:lnTo>
                    <a:pt x="0" y="47713"/>
                  </a:lnTo>
                  <a:lnTo>
                    <a:pt x="10223" y="57759"/>
                  </a:lnTo>
                  <a:lnTo>
                    <a:pt x="18389" y="57759"/>
                  </a:lnTo>
                  <a:lnTo>
                    <a:pt x="23507" y="52641"/>
                  </a:lnTo>
                  <a:lnTo>
                    <a:pt x="37731" y="41071"/>
                  </a:lnTo>
                  <a:lnTo>
                    <a:pt x="53568" y="32778"/>
                  </a:lnTo>
                  <a:lnTo>
                    <a:pt x="70434" y="27787"/>
                  </a:lnTo>
                  <a:lnTo>
                    <a:pt x="87757" y="26123"/>
                  </a:lnTo>
                  <a:lnTo>
                    <a:pt x="105232" y="27787"/>
                  </a:lnTo>
                  <a:lnTo>
                    <a:pt x="122097" y="32778"/>
                  </a:lnTo>
                  <a:lnTo>
                    <a:pt x="137909" y="41071"/>
                  </a:lnTo>
                  <a:lnTo>
                    <a:pt x="170091" y="67360"/>
                  </a:lnTo>
                  <a:lnTo>
                    <a:pt x="190195" y="78117"/>
                  </a:lnTo>
                  <a:lnTo>
                    <a:pt x="212001" y="84709"/>
                  </a:lnTo>
                  <a:lnTo>
                    <a:pt x="235013" y="86944"/>
                  </a:lnTo>
                  <a:lnTo>
                    <a:pt x="258025" y="84709"/>
                  </a:lnTo>
                  <a:lnTo>
                    <a:pt x="279819" y="78117"/>
                  </a:lnTo>
                  <a:lnTo>
                    <a:pt x="299859" y="67360"/>
                  </a:lnTo>
                  <a:lnTo>
                    <a:pt x="317639" y="52641"/>
                  </a:lnTo>
                  <a:lnTo>
                    <a:pt x="322757" y="47713"/>
                  </a:lnTo>
                  <a:lnTo>
                    <a:pt x="322757" y="39370"/>
                  </a:lnTo>
                  <a:close/>
                </a:path>
                <a:path w="349250" h="662940" extrusionOk="0">
                  <a:moveTo>
                    <a:pt x="349110" y="640943"/>
                  </a:moveTo>
                  <a:lnTo>
                    <a:pt x="342861" y="634682"/>
                  </a:lnTo>
                  <a:lnTo>
                    <a:pt x="326936" y="634682"/>
                  </a:lnTo>
                  <a:lnTo>
                    <a:pt x="320687" y="640943"/>
                  </a:lnTo>
                  <a:lnTo>
                    <a:pt x="320687" y="656488"/>
                  </a:lnTo>
                  <a:lnTo>
                    <a:pt x="326936" y="662724"/>
                  </a:lnTo>
                  <a:lnTo>
                    <a:pt x="342861" y="662724"/>
                  </a:lnTo>
                  <a:lnTo>
                    <a:pt x="349110" y="656488"/>
                  </a:lnTo>
                  <a:lnTo>
                    <a:pt x="349110" y="6409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9" name="Google Shape;629;gf9645b2320_6_610"/>
            <p:cNvSpPr/>
            <p:nvPr/>
          </p:nvSpPr>
          <p:spPr>
            <a:xfrm>
              <a:off x="5407186" y="7458407"/>
              <a:ext cx="84000" cy="84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0" name="Google Shape;630;gf9645b2320_6_610"/>
            <p:cNvSpPr/>
            <p:nvPr/>
          </p:nvSpPr>
          <p:spPr>
            <a:xfrm>
              <a:off x="5194541" y="7514519"/>
              <a:ext cx="292100" cy="140334"/>
            </a:xfrm>
            <a:custGeom>
              <a:avLst/>
              <a:gdLst/>
              <a:ahLst/>
              <a:cxnLst/>
              <a:rect l="l" t="t" r="r" b="b"/>
              <a:pathLst>
                <a:path w="292100" h="140334" extrusionOk="0">
                  <a:moveTo>
                    <a:pt x="28422" y="6248"/>
                  </a:moveTo>
                  <a:lnTo>
                    <a:pt x="22161" y="0"/>
                  </a:lnTo>
                  <a:lnTo>
                    <a:pt x="6438" y="0"/>
                  </a:lnTo>
                  <a:lnTo>
                    <a:pt x="0" y="6248"/>
                  </a:lnTo>
                  <a:lnTo>
                    <a:pt x="0" y="21602"/>
                  </a:lnTo>
                  <a:lnTo>
                    <a:pt x="6438" y="27851"/>
                  </a:lnTo>
                  <a:lnTo>
                    <a:pt x="22161" y="27851"/>
                  </a:lnTo>
                  <a:lnTo>
                    <a:pt x="28422" y="21602"/>
                  </a:lnTo>
                  <a:lnTo>
                    <a:pt x="28422" y="6248"/>
                  </a:lnTo>
                  <a:close/>
                </a:path>
                <a:path w="292100" h="140334" extrusionOk="0">
                  <a:moveTo>
                    <a:pt x="292049" y="118262"/>
                  </a:moveTo>
                  <a:lnTo>
                    <a:pt x="285788" y="112001"/>
                  </a:lnTo>
                  <a:lnTo>
                    <a:pt x="218897" y="112001"/>
                  </a:lnTo>
                  <a:lnTo>
                    <a:pt x="212636" y="118262"/>
                  </a:lnTo>
                  <a:lnTo>
                    <a:pt x="212636" y="133807"/>
                  </a:lnTo>
                  <a:lnTo>
                    <a:pt x="218897" y="140042"/>
                  </a:lnTo>
                  <a:lnTo>
                    <a:pt x="285788" y="140042"/>
                  </a:lnTo>
                  <a:lnTo>
                    <a:pt x="292049" y="133807"/>
                  </a:lnTo>
                  <a:lnTo>
                    <a:pt x="292049" y="1182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sp>
        <p:nvSpPr>
          <p:cNvPr id="638" name="Google Shape;638;gf9645b2320_6_610"/>
          <p:cNvSpPr txBox="1">
            <a:spLocks noGrp="1"/>
          </p:cNvSpPr>
          <p:nvPr>
            <p:ph type="title" idx="4294967295"/>
          </p:nvPr>
        </p:nvSpPr>
        <p:spPr>
          <a:xfrm>
            <a:off x="3276517" y="1020500"/>
            <a:ext cx="2768400" cy="646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127"/>
            </a:pPr>
            <a:r>
              <a:rPr lang="ru-RU" sz="1867" b="1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ООО «БФА-Монолит»</a:t>
            </a:r>
            <a:br>
              <a:rPr lang="ru-RU" sz="1867" dirty="0">
                <a:solidFill>
                  <a:srgbClr val="0846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ru-RU" sz="1867" b="1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г. Санкт-Петербург</a:t>
            </a:r>
            <a:endParaRPr lang="ru-RU" sz="1680" b="1" dirty="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9" name="Google Shape;639;gf9645b2320_6_610"/>
          <p:cNvSpPr txBox="1"/>
          <p:nvPr/>
        </p:nvSpPr>
        <p:spPr>
          <a:xfrm>
            <a:off x="7776798" y="1190724"/>
            <a:ext cx="4080448" cy="493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1400" b="0" i="0" dirty="0">
                <a:solidFill>
                  <a:schemeClr val="bg1">
                    <a:lumMod val="6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Строительство жилых и нежилых зданий</a:t>
            </a:r>
            <a:endParaRPr lang="ru-RU" sz="1400" dirty="0">
              <a:solidFill>
                <a:schemeClr val="bg1">
                  <a:lumMod val="65000"/>
                </a:schemeClr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40" name="Google Shape;640;gf9645b2320_6_610"/>
          <p:cNvSpPr txBox="1">
            <a:spLocks noGrp="1"/>
          </p:cNvSpPr>
          <p:nvPr>
            <p:ph type="body" idx="4294967295"/>
          </p:nvPr>
        </p:nvSpPr>
        <p:spPr>
          <a:xfrm>
            <a:off x="2093398" y="1976441"/>
            <a:ext cx="9788800" cy="58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marL="33866" indent="0">
              <a:buNone/>
            </a:pPr>
            <a:r>
              <a:rPr lang="ru-RU" sz="1600" b="1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«Оптимизация производства работ по укладке плитки на объекте «Автограф в центре»</a:t>
            </a:r>
          </a:p>
        </p:txBody>
      </p:sp>
      <p:sp>
        <p:nvSpPr>
          <p:cNvPr id="641" name="Google Shape;641;gf9645b2320_6_610"/>
          <p:cNvSpPr txBox="1"/>
          <p:nvPr/>
        </p:nvSpPr>
        <p:spPr>
          <a:xfrm>
            <a:off x="304800" y="1916000"/>
            <a:ext cx="1456400" cy="717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Пилотный</a:t>
            </a:r>
            <a:endParaRPr sz="1533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r>
              <a:rPr lang="ru-RU" sz="1533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поток:</a:t>
            </a:r>
            <a:endParaRPr sz="1533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42" name="Google Shape;642;gf9645b2320_6_610"/>
          <p:cNvCxnSpPr/>
          <p:nvPr/>
        </p:nvCxnSpPr>
        <p:spPr>
          <a:xfrm>
            <a:off x="21167" y="2634400"/>
            <a:ext cx="12217600" cy="0"/>
          </a:xfrm>
          <a:prstGeom prst="straightConnector1">
            <a:avLst/>
          </a:prstGeom>
          <a:noFill/>
          <a:ln w="9525" cap="flat" cmpd="sng">
            <a:solidFill>
              <a:srgbClr val="1E86C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3" name="Google Shape;643;gf9645b2320_6_610"/>
          <p:cNvCxnSpPr/>
          <p:nvPr/>
        </p:nvCxnSpPr>
        <p:spPr>
          <a:xfrm>
            <a:off x="21167" y="1889100"/>
            <a:ext cx="12217600" cy="0"/>
          </a:xfrm>
          <a:prstGeom prst="straightConnector1">
            <a:avLst/>
          </a:prstGeom>
          <a:noFill/>
          <a:ln w="9525" cap="flat" cmpd="sng">
            <a:solidFill>
              <a:srgbClr val="1E86C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4" name="Google Shape;644;gf9645b2320_6_610"/>
          <p:cNvSpPr txBox="1">
            <a:spLocks noGrp="1"/>
          </p:cNvSpPr>
          <p:nvPr>
            <p:ph type="body" idx="4294967295"/>
          </p:nvPr>
        </p:nvSpPr>
        <p:spPr>
          <a:xfrm>
            <a:off x="205752" y="3135300"/>
            <a:ext cx="2561199" cy="7878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t" anchorCtr="0">
            <a:spAutoFit/>
          </a:bodyPr>
          <a:lstStyle/>
          <a:p>
            <a:pPr marL="33655" indent="0">
              <a:spcBef>
                <a:spcPts val="0"/>
              </a:spcBef>
              <a:buNone/>
            </a:pPr>
            <a:r>
              <a:rPr lang="ru-RU" sz="1600" dirty="0">
                <a:latin typeface="Open Sans"/>
                <a:ea typeface="Open Sans"/>
                <a:cs typeface="Open Sans"/>
              </a:rPr>
              <a:t>Процесс укладки плитки на предприятии сократился на 30%</a:t>
            </a:r>
          </a:p>
        </p:txBody>
      </p:sp>
      <p:sp>
        <p:nvSpPr>
          <p:cNvPr id="646" name="Google Shape;646;gf9645b2320_6_610"/>
          <p:cNvSpPr txBox="1"/>
          <p:nvPr/>
        </p:nvSpPr>
        <p:spPr>
          <a:xfrm>
            <a:off x="304800" y="2705301"/>
            <a:ext cx="25612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Основной результат:</a:t>
            </a:r>
            <a:endParaRPr sz="1533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7" name="Google Shape;647;gf9645b2320_6_610"/>
          <p:cNvSpPr txBox="1"/>
          <p:nvPr/>
        </p:nvSpPr>
        <p:spPr>
          <a:xfrm>
            <a:off x="3276533" y="2705301"/>
            <a:ext cx="34120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Основные мероприятия:</a:t>
            </a:r>
            <a:endParaRPr sz="1533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gf9645b2320_6_610"/>
          <p:cNvSpPr txBox="1"/>
          <p:nvPr/>
        </p:nvSpPr>
        <p:spPr>
          <a:xfrm>
            <a:off x="8718483" y="2705301"/>
            <a:ext cx="34120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Показатели пилотного потока:</a:t>
            </a:r>
            <a:endParaRPr sz="1533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9" name="Google Shape;649;gf9645b2320_6_610"/>
          <p:cNvSpPr txBox="1"/>
          <p:nvPr/>
        </p:nvSpPr>
        <p:spPr>
          <a:xfrm>
            <a:off x="8740632" y="3095891"/>
            <a:ext cx="2745199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b="1" dirty="0">
                <a:solidFill>
                  <a:srgbClr val="E6271F"/>
                </a:solidFill>
                <a:latin typeface="Montserrat"/>
                <a:ea typeface="Montserrat"/>
                <a:cs typeface="Montserrat"/>
                <a:sym typeface="Montserrat"/>
              </a:rPr>
              <a:t>ВЫРАБОТКА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-RU" sz="1067" dirty="0" err="1">
                <a:latin typeface="Montserrat"/>
                <a:ea typeface="Montserrat"/>
                <a:cs typeface="Montserrat"/>
                <a:sym typeface="Montserrat"/>
              </a:rPr>
              <a:t>тыс.руб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/</a:t>
            </a:r>
            <a:r>
              <a:rPr lang="ru-RU" sz="1067" dirty="0" err="1">
                <a:latin typeface="Montserrat"/>
                <a:ea typeface="Montserrat"/>
                <a:cs typeface="Montserrat"/>
                <a:sym typeface="Montserrat"/>
              </a:rPr>
              <a:t>чел.день</a:t>
            </a:r>
            <a:endParaRPr lang="ru-RU" sz="1067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156EB07-A563-0D21-C52F-85BD37BE4C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66"/>
          <a:stretch/>
        </p:blipFill>
        <p:spPr bwMode="auto">
          <a:xfrm>
            <a:off x="418128" y="4635106"/>
            <a:ext cx="2061415" cy="220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0" name="Google Shape;650;gf9645b2320_6_610"/>
          <p:cNvSpPr txBox="1"/>
          <p:nvPr/>
        </p:nvSpPr>
        <p:spPr>
          <a:xfrm>
            <a:off x="8721097" y="3621619"/>
            <a:ext cx="1210136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400" b="1" dirty="0">
                <a:latin typeface="Montserrat"/>
                <a:ea typeface="Montserrat"/>
                <a:cs typeface="Montserrat"/>
                <a:sym typeface="Montserrat"/>
              </a:rPr>
              <a:t>0,83*10^-3 </a:t>
            </a:r>
          </a:p>
          <a:p>
            <a:endParaRPr sz="14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1" name="Google Shape;651;gf9645b2320_6_610"/>
          <p:cNvSpPr txBox="1"/>
          <p:nvPr/>
        </p:nvSpPr>
        <p:spPr>
          <a:xfrm>
            <a:off x="10239846" y="3430880"/>
            <a:ext cx="1116161" cy="6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US" sz="1400" b="1" dirty="0">
                <a:latin typeface="Montserrat"/>
                <a:ea typeface="Montserrat"/>
                <a:cs typeface="Montserrat"/>
                <a:sym typeface="Montserrat"/>
              </a:rPr>
              <a:t>1,19^10-3</a:t>
            </a:r>
            <a:endParaRPr lang="en-US" sz="16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algn="ctr"/>
            <a:endParaRPr sz="1333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2" name="Google Shape;652;gf9645b2320_6_610"/>
          <p:cNvCxnSpPr/>
          <p:nvPr/>
        </p:nvCxnSpPr>
        <p:spPr>
          <a:xfrm rot="10800000" flipH="1">
            <a:off x="9453033" y="3537000"/>
            <a:ext cx="958800" cy="603200"/>
          </a:xfrm>
          <a:prstGeom prst="straightConnector1">
            <a:avLst/>
          </a:prstGeom>
          <a:noFill/>
          <a:ln w="28575" cap="flat" cmpd="sng">
            <a:solidFill>
              <a:srgbClr val="E6271F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31" name="Google Shape;631;gf9645b2320_6_610"/>
          <p:cNvGrpSpPr/>
          <p:nvPr/>
        </p:nvGrpSpPr>
        <p:grpSpPr>
          <a:xfrm flipH="1">
            <a:off x="334" y="6286259"/>
            <a:ext cx="12191375" cy="1033852"/>
            <a:chOff x="0" y="8029024"/>
            <a:chExt cx="20104509" cy="3279987"/>
          </a:xfrm>
        </p:grpSpPr>
        <p:sp>
          <p:nvSpPr>
            <p:cNvPr id="632" name="Google Shape;632;gf9645b2320_6_610"/>
            <p:cNvSpPr/>
            <p:nvPr/>
          </p:nvSpPr>
          <p:spPr>
            <a:xfrm>
              <a:off x="2019682" y="8029024"/>
              <a:ext cx="18084800" cy="3279775"/>
            </a:xfrm>
            <a:custGeom>
              <a:avLst/>
              <a:gdLst/>
              <a:ahLst/>
              <a:cxnLst/>
              <a:rect l="l" t="t" r="r" b="b"/>
              <a:pathLst>
                <a:path w="18084800" h="3279775" extrusionOk="0">
                  <a:moveTo>
                    <a:pt x="18084391" y="0"/>
                  </a:moveTo>
                  <a:lnTo>
                    <a:pt x="0" y="3279531"/>
                  </a:lnTo>
                  <a:lnTo>
                    <a:pt x="18084391" y="3279531"/>
                  </a:lnTo>
                  <a:lnTo>
                    <a:pt x="18084391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3" name="Google Shape;633;gf9645b2320_6_610"/>
            <p:cNvSpPr/>
            <p:nvPr/>
          </p:nvSpPr>
          <p:spPr>
            <a:xfrm>
              <a:off x="2019709" y="8029035"/>
              <a:ext cx="18084800" cy="3279775"/>
            </a:xfrm>
            <a:custGeom>
              <a:avLst/>
              <a:gdLst/>
              <a:ahLst/>
              <a:cxnLst/>
              <a:rect l="l" t="t" r="r" b="b"/>
              <a:pathLst>
                <a:path w="18084800" h="3279775" extrusionOk="0">
                  <a:moveTo>
                    <a:pt x="0" y="3279521"/>
                  </a:moveTo>
                  <a:lnTo>
                    <a:pt x="18084389" y="0"/>
                  </a:lnTo>
                </a:path>
              </a:pathLst>
            </a:custGeom>
            <a:noFill/>
            <a:ln w="463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4" name="Google Shape;634;gf9645b2320_6_610"/>
            <p:cNvSpPr/>
            <p:nvPr/>
          </p:nvSpPr>
          <p:spPr>
            <a:xfrm>
              <a:off x="4232616" y="9204511"/>
              <a:ext cx="15871825" cy="2104390"/>
            </a:xfrm>
            <a:custGeom>
              <a:avLst/>
              <a:gdLst/>
              <a:ahLst/>
              <a:cxnLst/>
              <a:rect l="l" t="t" r="r" b="b"/>
              <a:pathLst>
                <a:path w="15871825" h="2104390" extrusionOk="0">
                  <a:moveTo>
                    <a:pt x="15871432" y="0"/>
                  </a:moveTo>
                  <a:lnTo>
                    <a:pt x="0" y="562500"/>
                  </a:lnTo>
                  <a:lnTo>
                    <a:pt x="9173902" y="2104044"/>
                  </a:lnTo>
                  <a:lnTo>
                    <a:pt x="15871432" y="2104044"/>
                  </a:lnTo>
                  <a:lnTo>
                    <a:pt x="15871432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5" name="Google Shape;635;gf9645b2320_6_610"/>
            <p:cNvSpPr/>
            <p:nvPr/>
          </p:nvSpPr>
          <p:spPr>
            <a:xfrm>
              <a:off x="4232666" y="9204508"/>
              <a:ext cx="15871825" cy="2104390"/>
            </a:xfrm>
            <a:custGeom>
              <a:avLst/>
              <a:gdLst/>
              <a:ahLst/>
              <a:cxnLst/>
              <a:rect l="l" t="t" r="r" b="b"/>
              <a:pathLst>
                <a:path w="15871825" h="2104390" extrusionOk="0">
                  <a:moveTo>
                    <a:pt x="9173933" y="2104048"/>
                  </a:moveTo>
                  <a:lnTo>
                    <a:pt x="0" y="562496"/>
                  </a:lnTo>
                  <a:lnTo>
                    <a:pt x="15871431" y="0"/>
                  </a:lnTo>
                </a:path>
              </a:pathLst>
            </a:custGeom>
            <a:noFill/>
            <a:ln w="698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6" name="Google Shape;636;gf9645b2320_6_610"/>
            <p:cNvSpPr/>
            <p:nvPr/>
          </p:nvSpPr>
          <p:spPr>
            <a:xfrm>
              <a:off x="0" y="9715796"/>
              <a:ext cx="20104100" cy="1593215"/>
            </a:xfrm>
            <a:custGeom>
              <a:avLst/>
              <a:gdLst/>
              <a:ahLst/>
              <a:cxnLst/>
              <a:rect l="l" t="t" r="r" b="b"/>
              <a:pathLst>
                <a:path w="20104100" h="1593215" extrusionOk="0">
                  <a:moveTo>
                    <a:pt x="20104062" y="0"/>
                  </a:moveTo>
                  <a:lnTo>
                    <a:pt x="0" y="2588"/>
                  </a:lnTo>
                  <a:lnTo>
                    <a:pt x="0" y="1592759"/>
                  </a:lnTo>
                  <a:lnTo>
                    <a:pt x="6359354" y="1592759"/>
                  </a:lnTo>
                  <a:lnTo>
                    <a:pt x="20104062" y="36363"/>
                  </a:lnTo>
                  <a:close/>
                </a:path>
              </a:pathLst>
            </a:custGeom>
            <a:solidFill>
              <a:srgbClr val="0052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7" name="Google Shape;637;gf9645b2320_6_610"/>
            <p:cNvSpPr/>
            <p:nvPr/>
          </p:nvSpPr>
          <p:spPr>
            <a:xfrm>
              <a:off x="0" y="9789829"/>
              <a:ext cx="12448540" cy="1409700"/>
            </a:xfrm>
            <a:custGeom>
              <a:avLst/>
              <a:gdLst/>
              <a:ahLst/>
              <a:cxnLst/>
              <a:rect l="l" t="t" r="r" b="b"/>
              <a:pathLst>
                <a:path w="12448540" h="1409700" extrusionOk="0">
                  <a:moveTo>
                    <a:pt x="12448395" y="0"/>
                  </a:moveTo>
                  <a:lnTo>
                    <a:pt x="0" y="1583"/>
                  </a:lnTo>
                  <a:lnTo>
                    <a:pt x="0" y="1409598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sp>
        <p:nvSpPr>
          <p:cNvPr id="653" name="Google Shape;653;gf9645b2320_6_610"/>
          <p:cNvSpPr txBox="1"/>
          <p:nvPr/>
        </p:nvSpPr>
        <p:spPr>
          <a:xfrm>
            <a:off x="9682466" y="3790100"/>
            <a:ext cx="1116161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E6271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+43%</a:t>
            </a:r>
            <a:endParaRPr sz="1600" dirty="0">
              <a:solidFill>
                <a:srgbClr val="E6271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54" name="Google Shape;654;gf9645b2320_6_610"/>
          <p:cNvSpPr txBox="1"/>
          <p:nvPr/>
        </p:nvSpPr>
        <p:spPr>
          <a:xfrm>
            <a:off x="8728392" y="3430300"/>
            <a:ext cx="724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gf9645b2320_6_610"/>
          <p:cNvSpPr txBox="1"/>
          <p:nvPr/>
        </p:nvSpPr>
        <p:spPr>
          <a:xfrm>
            <a:off x="10652933" y="3641967"/>
            <a:ext cx="724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gf9645b2320_6_610"/>
          <p:cNvSpPr txBox="1"/>
          <p:nvPr/>
        </p:nvSpPr>
        <p:spPr>
          <a:xfrm>
            <a:off x="8732644" y="4280658"/>
            <a:ext cx="27452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b="1" dirty="0">
                <a:solidFill>
                  <a:srgbClr val="0052A1"/>
                </a:solidFill>
                <a:latin typeface="Montserrat"/>
                <a:ea typeface="Montserrat"/>
                <a:cs typeface="Montserrat"/>
                <a:sym typeface="Montserrat"/>
              </a:rPr>
              <a:t>ОБОРАЧИВАЕМОСТЬ, 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 дни</a:t>
            </a:r>
          </a:p>
        </p:txBody>
      </p:sp>
      <p:sp>
        <p:nvSpPr>
          <p:cNvPr id="657" name="Google Shape;657;gf9645b2320_6_610"/>
          <p:cNvSpPr txBox="1"/>
          <p:nvPr/>
        </p:nvSpPr>
        <p:spPr>
          <a:xfrm>
            <a:off x="10576805" y="4741840"/>
            <a:ext cx="6412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/>
            <a:r>
              <a:rPr lang="en-US" sz="1400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2,95</a:t>
            </a:r>
            <a:endParaRPr lang="ru-RU" sz="1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gf9645b2320_6_610"/>
          <p:cNvSpPr txBox="1"/>
          <p:nvPr/>
        </p:nvSpPr>
        <p:spPr>
          <a:xfrm>
            <a:off x="8727764" y="4954033"/>
            <a:ext cx="75392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00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2,06</a:t>
            </a:r>
            <a:endParaRPr lang="en-US" sz="14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9" name="Google Shape;659;gf9645b2320_6_610"/>
          <p:cNvCxnSpPr/>
          <p:nvPr/>
        </p:nvCxnSpPr>
        <p:spPr>
          <a:xfrm rot="10800000" flipH="1">
            <a:off x="9453033" y="4773267"/>
            <a:ext cx="958800" cy="603200"/>
          </a:xfrm>
          <a:prstGeom prst="straightConnector1">
            <a:avLst/>
          </a:prstGeom>
          <a:noFill/>
          <a:ln w="28575" cap="flat" cmpd="sng">
            <a:solidFill>
              <a:srgbClr val="0052A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60" name="Google Shape;660;gf9645b2320_6_610"/>
          <p:cNvSpPr txBox="1"/>
          <p:nvPr/>
        </p:nvSpPr>
        <p:spPr>
          <a:xfrm>
            <a:off x="9682467" y="5026367"/>
            <a:ext cx="8956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0052A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-30%</a:t>
            </a:r>
            <a:endParaRPr sz="1600" dirty="0">
              <a:solidFill>
                <a:srgbClr val="0052A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61" name="Google Shape;661;gf9645b2320_6_610"/>
          <p:cNvSpPr txBox="1"/>
          <p:nvPr/>
        </p:nvSpPr>
        <p:spPr>
          <a:xfrm>
            <a:off x="10632967" y="4507022"/>
            <a:ext cx="724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gf9645b2320_6_610"/>
          <p:cNvSpPr txBox="1"/>
          <p:nvPr/>
        </p:nvSpPr>
        <p:spPr>
          <a:xfrm>
            <a:off x="8727359" y="5193171"/>
            <a:ext cx="724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gf9645b2320_6_610"/>
          <p:cNvSpPr txBox="1"/>
          <p:nvPr/>
        </p:nvSpPr>
        <p:spPr>
          <a:xfrm>
            <a:off x="8732644" y="5538569"/>
            <a:ext cx="32224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b="1" dirty="0">
                <a:solidFill>
                  <a:srgbClr val="0052A1"/>
                </a:solidFill>
                <a:latin typeface="Montserrat"/>
                <a:ea typeface="Montserrat"/>
                <a:cs typeface="Montserrat"/>
                <a:sym typeface="Montserrat"/>
              </a:rPr>
              <a:t>ВПП, 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дни</a:t>
            </a:r>
            <a:endParaRPr sz="1067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4" name="Google Shape;664;gf9645b2320_6_610"/>
          <p:cNvSpPr txBox="1"/>
          <p:nvPr/>
        </p:nvSpPr>
        <p:spPr>
          <a:xfrm>
            <a:off x="10480624" y="5873573"/>
            <a:ext cx="895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400" b="1" dirty="0">
                <a:latin typeface="Montserrat"/>
                <a:ea typeface="Montserrat"/>
                <a:cs typeface="Montserrat"/>
                <a:sym typeface="Montserrat"/>
              </a:rPr>
              <a:t>20</a:t>
            </a:r>
            <a:endParaRPr sz="14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5" name="Google Shape;665;gf9645b2320_6_610"/>
          <p:cNvSpPr txBox="1"/>
          <p:nvPr/>
        </p:nvSpPr>
        <p:spPr>
          <a:xfrm>
            <a:off x="8536884" y="6144032"/>
            <a:ext cx="80448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400" b="1" dirty="0">
                <a:latin typeface="Montserrat"/>
                <a:ea typeface="Montserrat"/>
                <a:cs typeface="Montserrat"/>
                <a:sym typeface="Montserrat"/>
              </a:rPr>
              <a:t>14</a:t>
            </a:r>
            <a:endParaRPr sz="14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66" name="Google Shape;666;gf9645b2320_6_610"/>
          <p:cNvCxnSpPr/>
          <p:nvPr/>
        </p:nvCxnSpPr>
        <p:spPr>
          <a:xfrm rot="10800000" flipH="1">
            <a:off x="9453033" y="6009533"/>
            <a:ext cx="958800" cy="603200"/>
          </a:xfrm>
          <a:prstGeom prst="straightConnector1">
            <a:avLst/>
          </a:prstGeom>
          <a:noFill/>
          <a:ln w="28575" cap="flat" cmpd="sng">
            <a:solidFill>
              <a:srgbClr val="0052A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67" name="Google Shape;667;gf9645b2320_6_610"/>
          <p:cNvSpPr txBox="1"/>
          <p:nvPr/>
        </p:nvSpPr>
        <p:spPr>
          <a:xfrm>
            <a:off x="9682467" y="6262633"/>
            <a:ext cx="8956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0052A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-30%</a:t>
            </a:r>
            <a:endParaRPr sz="1600" dirty="0">
              <a:solidFill>
                <a:srgbClr val="0052A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68" name="Google Shape;668;gf9645b2320_6_610"/>
          <p:cNvSpPr txBox="1"/>
          <p:nvPr/>
        </p:nvSpPr>
        <p:spPr>
          <a:xfrm>
            <a:off x="10575625" y="5634655"/>
            <a:ext cx="7240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gf9645b2320_6_610"/>
          <p:cNvSpPr txBox="1"/>
          <p:nvPr/>
        </p:nvSpPr>
        <p:spPr>
          <a:xfrm>
            <a:off x="8703118" y="6387104"/>
            <a:ext cx="669393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Текст 5">
            <a:extLst>
              <a:ext uri="{FF2B5EF4-FFF2-40B4-BE49-F238E27FC236}">
                <a16:creationId xmlns:a16="http://schemas.microsoft.com/office/drawing/2014/main" id="{E847D8B6-7752-4229-BFD0-C57ACDD5265F}"/>
              </a:ext>
            </a:extLst>
          </p:cNvPr>
          <p:cNvSpPr txBox="1">
            <a:spLocks/>
          </p:cNvSpPr>
          <p:nvPr/>
        </p:nvSpPr>
        <p:spPr>
          <a:xfrm>
            <a:off x="2863722" y="3145942"/>
            <a:ext cx="5183678" cy="3539432"/>
          </a:xfrm>
          <a:prstGeom prst="rect">
            <a:avLst/>
          </a:prstGeom>
        </p:spPr>
        <p:txBody>
          <a:bodyPr vert="horz" wrap="square" lIns="91440" tIns="45721" rIns="91440" bIns="45721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AutoNum type="arabicPeriod"/>
            </a:pP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Внедрение </a:t>
            </a:r>
            <a:r>
              <a:rPr lang="ru-RU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структурированного статистического анализа запасов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используемых при проведении отделочных работ (ABC-анализ), определение категорий запасов. Установка нормативов запасов на проектах по категориям. Организация </a:t>
            </a:r>
            <a:r>
              <a:rPr lang="ru-RU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адресного хранения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Внедрение системы планирования работ на этажах, с доступом для мастеров СМР, тех. надзора и  вышестоящего руководства. В результате время планирования работ сокращено </a:t>
            </a:r>
            <a:r>
              <a:rPr lang="ru-RU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 540 минут до 60 минут</a:t>
            </a: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Организация зон хранения инструмента для ИТР.</a:t>
            </a:r>
          </a:p>
          <a:p>
            <a:pPr marL="342900" indent="-342900">
              <a:buAutoNum type="arabicPeriod"/>
            </a:pPr>
            <a:r>
              <a:rPr lang="ru-RU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Разработан регламент работы кладовщика, исключающий ошибки при приеме и выдаче материалов.</a:t>
            </a:r>
          </a:p>
          <a:p>
            <a:pPr marL="342900" indent="-342900">
              <a:buAutoNum type="arabicPeriod"/>
            </a:pPr>
            <a:endParaRPr lang="ru-RU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859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Скругленный прямоугольник 1">
            <a:extLst>
              <a:ext uri="{FF2B5EF4-FFF2-40B4-BE49-F238E27FC236}">
                <a16:creationId xmlns:a16="http://schemas.microsoft.com/office/drawing/2014/main" id="{26FF1C5B-956D-851E-EAE0-5EA67B611196}"/>
              </a:ext>
            </a:extLst>
          </p:cNvPr>
          <p:cNvSpPr/>
          <p:nvPr/>
        </p:nvSpPr>
        <p:spPr>
          <a:xfrm>
            <a:off x="2" y="1873329"/>
            <a:ext cx="12189031" cy="86409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8D0"/>
              </a:gs>
              <a:gs pos="78000">
                <a:srgbClr val="0052A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 dirty="0">
              <a:latin typeface="Montserrat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23" name="Google Shape;623;gf9645b2320_6_610" descr="Изображение выглядит как рисунок, часы, знак&#10;&#10;Автоматически созданное описа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7676" y="315837"/>
            <a:ext cx="1356565" cy="58138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gf9645b2320_6_610"/>
          <p:cNvSpPr txBox="1"/>
          <p:nvPr/>
        </p:nvSpPr>
        <p:spPr>
          <a:xfrm>
            <a:off x="3479634" y="1192559"/>
            <a:ext cx="682596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 Строительство жилых и нежилых зданий</a:t>
            </a:r>
          </a:p>
        </p:txBody>
      </p:sp>
      <p:sp>
        <p:nvSpPr>
          <p:cNvPr id="640" name="Google Shape;640;gf9645b2320_6_610"/>
          <p:cNvSpPr txBox="1">
            <a:spLocks noGrp="1"/>
          </p:cNvSpPr>
          <p:nvPr>
            <p:ph type="body" idx="4294967295"/>
          </p:nvPr>
        </p:nvSpPr>
        <p:spPr>
          <a:xfrm>
            <a:off x="3385765" y="1970350"/>
            <a:ext cx="7525911" cy="74950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 lnSpcReduction="10000"/>
          </a:bodyPr>
          <a:lstStyle/>
          <a:p>
            <a:pPr marL="33866" indent="0">
              <a:buNone/>
            </a:pPr>
            <a:r>
              <a:rPr lang="ru-RU" sz="1867" b="1" dirty="0">
                <a:solidFill>
                  <a:schemeClr val="bg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Оптимизация производства работ по укладке плитки на объекте «Автограф в центре»</a:t>
            </a:r>
          </a:p>
        </p:txBody>
      </p:sp>
      <p:sp>
        <p:nvSpPr>
          <p:cNvPr id="641" name="Google Shape;641;gf9645b2320_6_610"/>
          <p:cNvSpPr txBox="1"/>
          <p:nvPr/>
        </p:nvSpPr>
        <p:spPr>
          <a:xfrm>
            <a:off x="595397" y="2064305"/>
            <a:ext cx="2800315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Пилотный</a:t>
            </a:r>
            <a:r>
              <a:rPr lang="en-US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поток:</a:t>
            </a:r>
            <a:endParaRPr sz="1533" dirty="0">
              <a:solidFill>
                <a:schemeClr val="bg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4" name="Google Shape;644;gf9645b2320_6_610"/>
          <p:cNvSpPr txBox="1">
            <a:spLocks noGrp="1"/>
          </p:cNvSpPr>
          <p:nvPr>
            <p:ph type="body" idx="4294967295"/>
          </p:nvPr>
        </p:nvSpPr>
        <p:spPr>
          <a:xfrm>
            <a:off x="707753" y="3043102"/>
            <a:ext cx="7335737" cy="63909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t" anchorCtr="0">
            <a:spAutoFit/>
          </a:bodyPr>
          <a:lstStyle/>
          <a:p>
            <a:pPr marL="33866" indent="0">
              <a:buNone/>
            </a:pPr>
            <a:r>
              <a:rPr lang="ru-RU" sz="1400" dirty="0"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Сокращение времени протекания процесса </a:t>
            </a:r>
            <a:r>
              <a:rPr lang="ru-RU" sz="1400" b="1" dirty="0"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на 6 дней</a:t>
            </a:r>
            <a:r>
              <a:rPr lang="ru-RU" sz="1400" dirty="0"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. Увеличение выработки в потоке </a:t>
            </a:r>
            <a:r>
              <a:rPr lang="ru-RU" sz="1400" b="1" dirty="0"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на 43%</a:t>
            </a:r>
          </a:p>
        </p:txBody>
      </p:sp>
      <p:sp>
        <p:nvSpPr>
          <p:cNvPr id="646" name="Google Shape;646;gf9645b2320_6_610"/>
          <p:cNvSpPr txBox="1"/>
          <p:nvPr/>
        </p:nvSpPr>
        <p:spPr>
          <a:xfrm>
            <a:off x="595396" y="2705304"/>
            <a:ext cx="25612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i="1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Основной результат:</a:t>
            </a:r>
            <a:endParaRPr sz="1533" i="1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gf9645b2320_6_610"/>
          <p:cNvSpPr txBox="1"/>
          <p:nvPr/>
        </p:nvSpPr>
        <p:spPr>
          <a:xfrm>
            <a:off x="8257671" y="2752754"/>
            <a:ext cx="3889008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i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Показатели пилотного потока:</a:t>
            </a:r>
            <a:endParaRPr sz="1533" i="1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" name="Google Shape;622;gf9645b2320_6_610">
            <a:extLst>
              <a:ext uri="{FF2B5EF4-FFF2-40B4-BE49-F238E27FC236}">
                <a16:creationId xmlns:a16="http://schemas.microsoft.com/office/drawing/2014/main" id="{E4820ECC-3D63-7295-E570-8BEA19B452E1}"/>
              </a:ext>
            </a:extLst>
          </p:cNvPr>
          <p:cNvSpPr txBox="1"/>
          <p:nvPr/>
        </p:nvSpPr>
        <p:spPr>
          <a:xfrm>
            <a:off x="513434" y="-152937"/>
            <a:ext cx="4401209" cy="12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2400" dirty="0">
                <a:solidFill>
                  <a:srgbClr val="09469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ПРИМЕРЫ КЕЙСОВ</a:t>
            </a:r>
            <a:endParaRPr sz="2400" dirty="0">
              <a:solidFill>
                <a:srgbClr val="094697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7B05325-7B95-FC98-2AE7-2758C48A87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36646" y="3713532"/>
            <a:ext cx="7081300" cy="6858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E1D24DD-B923-A77A-6F54-AC8CBB150FFA}"/>
              </a:ext>
            </a:extLst>
          </p:cNvPr>
          <p:cNvSpPr txBox="1"/>
          <p:nvPr/>
        </p:nvSpPr>
        <p:spPr>
          <a:xfrm>
            <a:off x="8301997" y="3250224"/>
            <a:ext cx="4007203" cy="2975302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+</a:t>
            </a:r>
            <a:r>
              <a:rPr lang="en-US" sz="3733" b="1" dirty="0">
                <a:solidFill>
                  <a:srgbClr val="245AA2"/>
                </a:solidFill>
                <a:latin typeface="Montserrat ExtraBold"/>
              </a:rPr>
              <a:t>43</a:t>
            </a:r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%</a:t>
            </a:r>
            <a:br>
              <a:rPr lang="ru-RU" sz="1467" b="1" dirty="0">
                <a:solidFill>
                  <a:srgbClr val="245AA2"/>
                </a:solidFill>
                <a:latin typeface="Montserrat"/>
              </a:rPr>
            </a:br>
            <a:r>
              <a:rPr lang="ru-RU" sz="1467" dirty="0">
                <a:latin typeface="Montserrat"/>
              </a:rPr>
              <a:t>выработка</a:t>
            </a:r>
            <a:r>
              <a:rPr lang="ru-RU" sz="1467" b="1" dirty="0">
                <a:solidFill>
                  <a:srgbClr val="245AA2"/>
                </a:solidFill>
                <a:latin typeface="Montserrat"/>
              </a:rPr>
              <a:t> </a:t>
            </a:r>
          </a:p>
          <a:p>
            <a:endParaRPr lang="ru-RU" sz="1467" b="1" dirty="0">
              <a:solidFill>
                <a:srgbClr val="245AA2"/>
              </a:solidFill>
              <a:latin typeface="Montserrat"/>
            </a:endParaRPr>
          </a:p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-30%</a:t>
            </a:r>
          </a:p>
          <a:p>
            <a:r>
              <a:rPr lang="ru-RU" sz="1467" dirty="0">
                <a:latin typeface="Montserrat"/>
              </a:rPr>
              <a:t>оборачиваемость запасов</a:t>
            </a:r>
          </a:p>
          <a:p>
            <a:endParaRPr lang="ru-RU" sz="1467" dirty="0">
              <a:solidFill>
                <a:srgbClr val="245AA2"/>
              </a:solidFill>
              <a:latin typeface="Montserrat"/>
            </a:endParaRPr>
          </a:p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-30%</a:t>
            </a:r>
          </a:p>
          <a:p>
            <a:r>
              <a:rPr lang="ru-RU" sz="1467" dirty="0">
                <a:latin typeface="Montserrat"/>
              </a:rPr>
              <a:t>время протекания процесса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5C87CCD5-5D3A-D922-FDE3-B19FEE2813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367262" y="2271021"/>
            <a:ext cx="7081300" cy="6858000"/>
          </a:xfrm>
          <a:prstGeom prst="rect">
            <a:avLst/>
          </a:prstGeom>
        </p:spPr>
      </p:pic>
      <p:sp>
        <p:nvSpPr>
          <p:cNvPr id="17" name="Google Shape;638;gf9645b2320_6_610">
            <a:extLst>
              <a:ext uri="{FF2B5EF4-FFF2-40B4-BE49-F238E27FC236}">
                <a16:creationId xmlns:a16="http://schemas.microsoft.com/office/drawing/2014/main" id="{FDF5248E-EF64-63F6-37D5-16BC17019B6E}"/>
              </a:ext>
            </a:extLst>
          </p:cNvPr>
          <p:cNvSpPr txBox="1">
            <a:spLocks/>
          </p:cNvSpPr>
          <p:nvPr/>
        </p:nvSpPr>
        <p:spPr>
          <a:xfrm>
            <a:off x="638438" y="834401"/>
            <a:ext cx="3156947" cy="79109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81244" rIns="162533" bIns="81244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27"/>
            </a:pPr>
            <a:r>
              <a:rPr lang="ru-RU" sz="2000" b="1" dirty="0">
                <a:solidFill>
                  <a:srgbClr val="094697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ООО «БФА-Монолит»</a:t>
            </a:r>
            <a:br>
              <a:rPr lang="ru-RU" sz="2000" b="1" dirty="0">
                <a:solidFill>
                  <a:srgbClr val="094697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ru-RU" sz="2000" dirty="0">
                <a:solidFill>
                  <a:srgbClr val="094697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г. Санкт-Петербург</a:t>
            </a:r>
            <a:endParaRPr lang="ru-RU" sz="2000" dirty="0">
              <a:solidFill>
                <a:srgbClr val="094697"/>
              </a:solidFill>
              <a:latin typeface="Montserrat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  <a:sym typeface="Montserrat"/>
            </a:endParaRPr>
          </a:p>
        </p:txBody>
      </p:sp>
      <p:sp>
        <p:nvSpPr>
          <p:cNvPr id="21" name="Текст 5">
            <a:extLst>
              <a:ext uri="{FF2B5EF4-FFF2-40B4-BE49-F238E27FC236}">
                <a16:creationId xmlns:a16="http://schemas.microsoft.com/office/drawing/2014/main" id="{4886193C-F2EC-4FB8-E9BB-743C515E29B7}"/>
              </a:ext>
            </a:extLst>
          </p:cNvPr>
          <p:cNvSpPr txBox="1">
            <a:spLocks/>
          </p:cNvSpPr>
          <p:nvPr/>
        </p:nvSpPr>
        <p:spPr>
          <a:xfrm>
            <a:off x="2738050" y="3713532"/>
            <a:ext cx="5442186" cy="3323989"/>
          </a:xfrm>
          <a:prstGeom prst="rect">
            <a:avLst/>
          </a:prstGeom>
        </p:spPr>
        <p:txBody>
          <a:bodyPr vert="horz" wrap="square" lIns="121920" tIns="60961" rIns="121920" bIns="60961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AutoNum type="arabicPeriod"/>
            </a:pPr>
            <a:r>
              <a:rPr lang="ru-RU" sz="1300" dirty="0">
                <a:solidFill>
                  <a:schemeClr val="tx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Внедрение </a:t>
            </a:r>
            <a:r>
              <a:rPr lang="ru-RU" sz="1300" b="1" dirty="0">
                <a:solidFill>
                  <a:schemeClr val="tx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структурированного статистического анализа запасов</a:t>
            </a:r>
            <a:r>
              <a:rPr lang="ru-RU" sz="1300" dirty="0">
                <a:solidFill>
                  <a:schemeClr val="tx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, используемых при проведении отделочных работ (ABC-анализ), определение категорий запасов. Установка нормативов запасов на проектах по категориям. Организация </a:t>
            </a:r>
            <a:r>
              <a:rPr lang="ru-RU" sz="1300" b="1" dirty="0">
                <a:solidFill>
                  <a:schemeClr val="tx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адресного хранения</a:t>
            </a:r>
            <a:r>
              <a:rPr lang="ru-RU" sz="1300" dirty="0">
                <a:solidFill>
                  <a:schemeClr val="tx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ru-RU" sz="1300" dirty="0">
                <a:solidFill>
                  <a:schemeClr val="tx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Внедрение системы планирования работ на этажах, с доступом для мастеров СМР, тех. надзора и  вышестоящего руководства. В результате время планирования работ сокращено </a:t>
            </a:r>
            <a:r>
              <a:rPr lang="ru-RU" sz="1300" b="1" dirty="0">
                <a:solidFill>
                  <a:schemeClr val="tx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с 540 минут до 60 минут</a:t>
            </a:r>
            <a:r>
              <a:rPr lang="ru-RU" sz="1300" dirty="0">
                <a:solidFill>
                  <a:schemeClr val="tx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ru-RU" sz="1300" dirty="0">
                <a:solidFill>
                  <a:schemeClr val="tx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Организация зон хранения инструмента для ИТР.</a:t>
            </a:r>
          </a:p>
          <a:p>
            <a:pPr marL="342900" indent="-342900">
              <a:buAutoNum type="arabicPeriod"/>
            </a:pPr>
            <a:r>
              <a:rPr lang="ru-RU" sz="1300" dirty="0">
                <a:solidFill>
                  <a:schemeClr val="tx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Разработан регламент работы кладовщика, исключающий ошибки при приеме и выдаче материалов.</a:t>
            </a:r>
          </a:p>
          <a:p>
            <a:pPr marL="342900" indent="-342900">
              <a:buAutoNum type="arabicPeriod"/>
            </a:pPr>
            <a:endParaRPr lang="ru-RU" sz="1300" dirty="0">
              <a:solidFill>
                <a:schemeClr val="tx1"/>
              </a:solidFill>
              <a:latin typeface="Montserrat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60D5686-0489-75E1-96A2-C3BCE97500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66"/>
          <a:stretch/>
        </p:blipFill>
        <p:spPr bwMode="auto">
          <a:xfrm>
            <a:off x="668648" y="3833442"/>
            <a:ext cx="2061415" cy="220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5668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XxBvIotUIYoIOxzPp2X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iJTYpdF7EiqihV0BB2cI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qYv7ihXeEmPYuVkvZXZg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qYv7ihXeEmPYuVkvZXZg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qYv7ihXeEmPYuVkvZXZgA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70EC594400F1A24E86B9F1B6D764F6F7" ma:contentTypeVersion="14" ma:contentTypeDescription="Создание документа." ma:contentTypeScope="" ma:versionID="80af868213e5908aaf6648beb9f8a390">
  <xsd:schema xmlns:xsd="http://www.w3.org/2001/XMLSchema" xmlns:xs="http://www.w3.org/2001/XMLSchema" xmlns:p="http://schemas.microsoft.com/office/2006/metadata/properties" xmlns:ns2="11a6046c-63f1-4c80-a521-ef7ae251e897" xmlns:ns3="4040dfa8-117b-4bd2-b9a9-a5a7d75514fe" targetNamespace="http://schemas.microsoft.com/office/2006/metadata/properties" ma:root="true" ma:fieldsID="bbae45399d085722103b1229869eb932" ns2:_="" ns3:_="">
    <xsd:import namespace="11a6046c-63f1-4c80-a521-ef7ae251e897"/>
    <xsd:import namespace="4040dfa8-117b-4bd2-b9a9-a5a7d75514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a6046c-63f1-4c80-a521-ef7ae251e8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49847d03-d8be-4925-a9f2-3878591b59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40dfa8-117b-4bd2-b9a9-a5a7d75514f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ff3c426c-db4f-4bd3-ae76-76a60e48ccaa}" ma:internalName="TaxCatchAll" ma:showField="CatchAllData" ma:web="4040dfa8-117b-4bd2-b9a9-a5a7d75514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1a6046c-63f1-4c80-a521-ef7ae251e897">
      <Terms xmlns="http://schemas.microsoft.com/office/infopath/2007/PartnerControls"/>
    </lcf76f155ced4ddcb4097134ff3c332f>
    <TaxCatchAll xmlns="4040dfa8-117b-4bd2-b9a9-a5a7d75514fe" xsi:nil="true"/>
  </documentManagement>
</p:properties>
</file>

<file path=customXml/itemProps1.xml><?xml version="1.0" encoding="utf-8"?>
<ds:datastoreItem xmlns:ds="http://schemas.openxmlformats.org/officeDocument/2006/customXml" ds:itemID="{9EF550A8-6B1B-4E83-9A3B-9681D83C90FC}"/>
</file>

<file path=customXml/itemProps2.xml><?xml version="1.0" encoding="utf-8"?>
<ds:datastoreItem xmlns:ds="http://schemas.openxmlformats.org/officeDocument/2006/customXml" ds:itemID="{EB55644F-8884-46ED-A7D9-B3861FCF1C7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42F591-ABF1-4B94-B7A1-6DF4180E65D8}"/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891</Words>
  <Application>Microsoft Office PowerPoint</Application>
  <PresentationFormat>Широкоэкранный</PresentationFormat>
  <Paragraphs>143</Paragraphs>
  <Slides>2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14" baseType="lpstr">
      <vt:lpstr>Arial</vt:lpstr>
      <vt:lpstr>Calibri</vt:lpstr>
      <vt:lpstr>Calibri Light</vt:lpstr>
      <vt:lpstr>Montserrat</vt:lpstr>
      <vt:lpstr>Montserrat ExtraBold</vt:lpstr>
      <vt:lpstr>Montserrat Medium</vt:lpstr>
      <vt:lpstr>Open sands</vt:lpstr>
      <vt:lpstr>Open Sans</vt:lpstr>
      <vt:lpstr>Verdana</vt:lpstr>
      <vt:lpstr>Тема Office</vt:lpstr>
      <vt:lpstr>Тема Office</vt:lpstr>
      <vt:lpstr>Слайд think-cell</vt:lpstr>
      <vt:lpstr>ООО «БФА-Монолит» г. Санкт-Петербург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вадим иванов</dc:creator>
  <cp:lastModifiedBy>Слиньков Александр</cp:lastModifiedBy>
  <cp:revision>44</cp:revision>
  <dcterms:created xsi:type="dcterms:W3CDTF">2022-10-13T08:58:48Z</dcterms:created>
  <dcterms:modified xsi:type="dcterms:W3CDTF">2023-03-07T09:58:23Z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0x01010070EC594400F1A24E86B9F1B6D764F6F7</vt:lpwstr>
  </property>
</Properties>
</file>