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648" r:id="rId5"/>
  </p:sldMasterIdLst>
  <p:notesMasterIdLst>
    <p:notesMasterId r:id="rId8"/>
  </p:notesMasterIdLst>
  <p:sldIdLst>
    <p:sldId id="278" r:id="rId6"/>
    <p:sldId id="292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24" autoAdjust="0"/>
    <p:restoredTop sz="78155" autoAdjust="0"/>
  </p:normalViewPr>
  <p:slideViewPr>
    <p:cSldViewPr snapToGrid="0">
      <p:cViewPr varScale="1">
        <p:scale>
          <a:sx n="63" d="100"/>
          <a:sy n="63" d="100"/>
        </p:scale>
        <p:origin x="782" y="3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зур Егор Антонович" userId="81be87f9-45b0-412a-b5b6-0617d339ddbb" providerId="ADAL" clId="{7AF68D9D-614A-4BCD-900E-12A44F910E7D}"/>
    <pc:docChg chg="custSel addSld modSld">
      <pc:chgData name="Мазур Егор Антонович" userId="81be87f9-45b0-412a-b5b6-0617d339ddbb" providerId="ADAL" clId="{7AF68D9D-614A-4BCD-900E-12A44F910E7D}" dt="2022-08-10T08:19:49.357" v="26" actId="20577"/>
      <pc:docMkLst>
        <pc:docMk/>
      </pc:docMkLst>
      <pc:sldChg chg="addSp delSp modSp add mod">
        <pc:chgData name="Мазур Егор Антонович" userId="81be87f9-45b0-412a-b5b6-0617d339ddbb" providerId="ADAL" clId="{7AF68D9D-614A-4BCD-900E-12A44F910E7D}" dt="2022-08-10T08:19:49.357" v="26" actId="20577"/>
        <pc:sldMkLst>
          <pc:docMk/>
          <pc:sldMk cId="1895345874" sldId="2920"/>
        </pc:sldMkLst>
      </pc:sldChg>
    </pc:docChg>
  </pc:docChgLst>
  <pc:docChgLst>
    <pc:chgData name="Торопова Анастасия Игоревна" userId="S::toropova_ai@archk.ru::ccf55b8b-4c71-4484-9ef8-91a0cbed1e94" providerId="AD" clId="Web-{13B65023-8679-7223-CE2F-C568FC804983}"/>
    <pc:docChg chg="modSld">
      <pc:chgData name="Торопова Анастасия Игоревна" userId="S::toropova_ai@archk.ru::ccf55b8b-4c71-4484-9ef8-91a0cbed1e94" providerId="AD" clId="Web-{13B65023-8679-7223-CE2F-C568FC804983}" dt="2023-01-30T07:24:34.364" v="33" actId="14100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13B65023-8679-7223-CE2F-C568FC804983}" dt="2023-01-30T07:24:34.364" v="33" actId="14100"/>
        <pc:sldMkLst>
          <pc:docMk/>
          <pc:sldMk cId="377862019" sldId="278"/>
        </pc:sldMkLst>
      </pc:sldChg>
    </pc:docChg>
  </pc:docChgLst>
  <pc:docChgLst>
    <pc:chgData name="Торопова Анастасия Игоревна" userId="S::toropova_ai@archk.ru::ccf55b8b-4c71-4484-9ef8-91a0cbed1e94" providerId="AD" clId="Web-{05943611-908B-5D47-AB67-1C0FD517B10E}"/>
    <pc:docChg chg="addSld delSld modSld addMainMaster modMainMaster">
      <pc:chgData name="Торопова Анастасия Игоревна" userId="S::toropova_ai@archk.ru::ccf55b8b-4c71-4484-9ef8-91a0cbed1e94" providerId="AD" clId="Web-{05943611-908B-5D47-AB67-1C0FD517B10E}" dt="2022-10-17T09:17:51.034" v="17"/>
      <pc:docMkLst>
        <pc:docMk/>
      </pc:docMkLst>
      <pc:sldChg chg="del">
        <pc:chgData name="Торопова Анастасия Игоревна" userId="S::toropova_ai@archk.ru::ccf55b8b-4c71-4484-9ef8-91a0cbed1e94" providerId="AD" clId="Web-{05943611-908B-5D47-AB67-1C0FD517B10E}" dt="2022-10-17T09:17:51.034" v="17"/>
        <pc:sldMkLst>
          <pc:docMk/>
          <pc:sldMk cId="1895345874" sldId="2920"/>
        </pc:sldMkLst>
      </pc:sldChg>
      <pc:sldChg chg="modSp add">
        <pc:chgData name="Торопова Анастасия Игоревна" userId="S::toropova_ai@archk.ru::ccf55b8b-4c71-4484-9ef8-91a0cbed1e94" providerId="AD" clId="Web-{05943611-908B-5D47-AB67-1C0FD517B10E}" dt="2022-10-17T09:17:46.222" v="16" actId="1076"/>
        <pc:sldMkLst>
          <pc:docMk/>
          <pc:sldMk cId="2891371701" sldId="2921"/>
        </pc:sldMkLst>
      </pc:sldChg>
      <pc:sldMasterChg chg="add addSldLayout">
        <pc:chgData name="Торопова Анастасия Игоревна" userId="S::toropova_ai@archk.ru::ccf55b8b-4c71-4484-9ef8-91a0cbed1e94" providerId="AD" clId="Web-{05943611-908B-5D47-AB67-1C0FD517B10E}" dt="2022-10-17T09:15:36.501" v="0"/>
        <pc:sldMasterMkLst>
          <pc:docMk/>
          <pc:sldMasterMk cId="4153469918" sldId="2147483648"/>
        </pc:sldMasterMkLst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2162470312" sldId="2147483649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2608656770" sldId="2147483650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2771220120" sldId="2147483651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2668652412" sldId="2147483652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4077933845" sldId="2147483653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1087839328" sldId="2147483654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3637354389" sldId="2147483655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674563989" sldId="2147483656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2500011418" sldId="2147483657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383428241" sldId="2147483658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35345265" sldId="2147483659"/>
          </pc:sldLayoutMkLst>
        </pc:sldLayoutChg>
        <pc:sldLayoutChg chg="ad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4153469918" sldId="2147483648"/>
            <pc:sldLayoutMk cId="1975370684" sldId="2147483662"/>
          </pc:sldLayoutMkLst>
        </pc:sldLayoutChg>
      </pc:sldMasterChg>
      <pc:sldMasterChg chg="replId modSldLayout">
        <pc:chgData name="Торопова Анастасия Игоревна" userId="S::toropova_ai@archk.ru::ccf55b8b-4c71-4484-9ef8-91a0cbed1e94" providerId="AD" clId="Web-{05943611-908B-5D47-AB67-1C0FD517B10E}" dt="2022-10-17T09:15:36.501" v="0"/>
        <pc:sldMasterMkLst>
          <pc:docMk/>
          <pc:sldMasterMk cId="1600395506" sldId="2147483663"/>
        </pc:sldMasterMkLst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2333454536" sldId="2147483664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3916600380" sldId="2147483665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2725685720" sldId="2147483666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1162167261" sldId="2147483667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1748992127" sldId="2147483668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4255985792" sldId="2147483669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1828694541" sldId="2147483670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1620936085" sldId="2147483671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2623057506" sldId="2147483672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1771286951" sldId="2147483673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05943611-908B-5D47-AB67-1C0FD517B10E}" dt="2022-10-17T09:15:36.501" v="0"/>
          <pc:sldLayoutMkLst>
            <pc:docMk/>
            <pc:sldMasterMk cId="1600395506" sldId="2147483663"/>
            <pc:sldLayoutMk cId="3047226696" sldId="2147483674"/>
          </pc:sldLayoutMkLst>
        </pc:sldLayoutChg>
      </pc:sldMasterChg>
    </pc:docChg>
  </pc:docChgLst>
  <pc:docChgLst>
    <pc:chgData name="Лёвкина Наталья" userId="430a77c7-2aa0-412b-9874-6952fe3919bd" providerId="ADAL" clId="{131E1D8A-B75B-41D8-A2A4-C337B3D641C1}"/>
    <pc:docChg chg="modSld">
      <pc:chgData name="Лёвкина Наталья" userId="430a77c7-2aa0-412b-9874-6952fe3919bd" providerId="ADAL" clId="{131E1D8A-B75B-41D8-A2A4-C337B3D641C1}" dt="2023-03-29T09:51:58.813" v="17" actId="20577"/>
      <pc:docMkLst>
        <pc:docMk/>
      </pc:docMkLst>
      <pc:sldChg chg="modSp mod">
        <pc:chgData name="Лёвкина Наталья" userId="430a77c7-2aa0-412b-9874-6952fe3919bd" providerId="ADAL" clId="{131E1D8A-B75B-41D8-A2A4-C337B3D641C1}" dt="2023-03-29T09:51:58.813" v="17" actId="20577"/>
        <pc:sldMkLst>
          <pc:docMk/>
          <pc:sldMk cId="377862019" sldId="278"/>
        </pc:sldMkLst>
      </pc:sldChg>
    </pc:docChg>
  </pc:docChgLst>
  <pc:docChgLst>
    <pc:chgData name="Лёвкина Наталья" userId="430a77c7-2aa0-412b-9874-6952fe3919bd" providerId="ADAL" clId="{8D33FE9A-6BE6-461F-B88B-A04DF6AC61F3}"/>
    <pc:docChg chg="custSel addSld modSld">
      <pc:chgData name="Лёвкина Наталья" userId="430a77c7-2aa0-412b-9874-6952fe3919bd" providerId="ADAL" clId="{8D33FE9A-6BE6-461F-B88B-A04DF6AC61F3}" dt="2022-06-24T17:26:01.049" v="166" actId="20577"/>
      <pc:docMkLst>
        <pc:docMk/>
      </pc:docMkLst>
      <pc:sldChg chg="addSp delSp modSp new mod">
        <pc:chgData name="Лёвкина Наталья" userId="430a77c7-2aa0-412b-9874-6952fe3919bd" providerId="ADAL" clId="{8D33FE9A-6BE6-461F-B88B-A04DF6AC61F3}" dt="2022-06-24T17:26:01.049" v="166" actId="20577"/>
        <pc:sldMkLst>
          <pc:docMk/>
          <pc:sldMk cId="3857640522" sldId="279"/>
        </pc:sldMkLst>
      </pc:sldChg>
    </pc:docChg>
  </pc:docChgLst>
  <pc:docChgLst>
    <pc:chgData name="Торопова Анастасия Игоревна" userId="S::toropova_ai@archk.ru::ccf55b8b-4c71-4484-9ef8-91a0cbed1e94" providerId="AD" clId="Web-{9A89C0BB-8BC3-A37E-B539-DDAF3F99B578}"/>
    <pc:docChg chg="modSld">
      <pc:chgData name="Торопова Анастасия Игоревна" userId="S::toropova_ai@archk.ru::ccf55b8b-4c71-4484-9ef8-91a0cbed1e94" providerId="AD" clId="Web-{9A89C0BB-8BC3-A37E-B539-DDAF3F99B578}" dt="2023-04-04T11:30:21.272" v="23" actId="1076"/>
      <pc:docMkLst>
        <pc:docMk/>
      </pc:docMkLst>
      <pc:sldChg chg="modSp">
        <pc:chgData name="Торопова Анастасия Игоревна" userId="S::toropova_ai@archk.ru::ccf55b8b-4c71-4484-9ef8-91a0cbed1e94" providerId="AD" clId="Web-{9A89C0BB-8BC3-A37E-B539-DDAF3F99B578}" dt="2023-04-04T11:30:21.272" v="23" actId="1076"/>
        <pc:sldMkLst>
          <pc:docMk/>
          <pc:sldMk cId="2891371701" sldId="2921"/>
        </pc:sldMkLst>
      </pc:sldChg>
    </pc:docChg>
  </pc:docChgLst>
  <pc:docChgLst>
    <pc:chgData name="Воронов Николай Сергеевич" userId="81e96e4e-0d4c-4b93-87f4-a904f8d0ccb2" providerId="ADAL" clId="{EB78DB89-D399-4E0F-8E45-2A8DF67C1B7B}"/>
    <pc:docChg chg="delSld">
      <pc:chgData name="Воронов Николай Сергеевич" userId="81e96e4e-0d4c-4b93-87f4-a904f8d0ccb2" providerId="ADAL" clId="{EB78DB89-D399-4E0F-8E45-2A8DF67C1B7B}" dt="2025-07-29T12:11:39.463" v="0" actId="2696"/>
      <pc:docMkLst>
        <pc:docMk/>
      </pc:docMkLst>
      <pc:sldChg chg="del">
        <pc:chgData name="Воронов Николай Сергеевич" userId="81e96e4e-0d4c-4b93-87f4-a904f8d0ccb2" providerId="ADAL" clId="{EB78DB89-D399-4E0F-8E45-2A8DF67C1B7B}" dt="2025-07-29T12:11:39.463" v="0" actId="2696"/>
        <pc:sldMkLst>
          <pc:docMk/>
          <pc:sldMk cId="3857640522" sldId="279"/>
        </pc:sldMkLst>
      </pc:sldChg>
    </pc:docChg>
  </pc:docChgLst>
  <pc:docChgLst>
    <pc:chgData name="Слиньков Александр" userId="d8474a66-80a7-40ca-8318-45ad1907908a" providerId="ADAL" clId="{657B58C5-C483-4879-BC61-ACE68BA5BAA7}"/>
    <pc:docChg chg="modSld">
      <pc:chgData name="Слиньков Александр" userId="d8474a66-80a7-40ca-8318-45ad1907908a" providerId="ADAL" clId="{657B58C5-C483-4879-BC61-ACE68BA5BAA7}" dt="2022-05-27T13:55:01.871" v="3" actId="20577"/>
      <pc:docMkLst>
        <pc:docMk/>
      </pc:docMkLst>
      <pc:sldChg chg="modSp mod">
        <pc:chgData name="Слиньков Александр" userId="d8474a66-80a7-40ca-8318-45ad1907908a" providerId="ADAL" clId="{657B58C5-C483-4879-BC61-ACE68BA5BAA7}" dt="2022-05-27T13:55:01.871" v="3" actId="20577"/>
        <pc:sldMkLst>
          <pc:docMk/>
          <pc:sldMk cId="377862019" sldId="278"/>
        </pc:sldMkLst>
      </pc:sldChg>
    </pc:docChg>
  </pc:docChgLst>
  <pc:docChgLst>
    <pc:chgData name="Торопова Анастасия Игоревна" userId="S::toropova_ai@archk.ru::ccf55b8b-4c71-4484-9ef8-91a0cbed1e94" providerId="AD" clId="Web-{D9598138-FA45-2571-2CE7-2CEE2275838C}"/>
    <pc:docChg chg="modSld">
      <pc:chgData name="Торопова Анастасия Игоревна" userId="S::toropova_ai@archk.ru::ccf55b8b-4c71-4484-9ef8-91a0cbed1e94" providerId="AD" clId="Web-{D9598138-FA45-2571-2CE7-2CEE2275838C}" dt="2023-04-04T13:36:09.989" v="11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D9598138-FA45-2571-2CE7-2CEE2275838C}" dt="2023-04-04T13:36:09.989" v="11" actId="20577"/>
        <pc:sldMkLst>
          <pc:docMk/>
          <pc:sldMk cId="377862019" sldId="278"/>
        </pc:sldMkLst>
      </pc:sldChg>
    </pc:docChg>
  </pc:docChgLst>
  <pc:docChgLst>
    <pc:chgData name="Басанцова Надежда Викторовна" userId="226becd4-f0f8-49df-99a5-d0cd7b04a91c" providerId="ADAL" clId="{27715EB6-6E3C-4086-81D3-E79B7ACBE56C}"/>
    <pc:docChg chg="undo custSel modSld">
      <pc:chgData name="Басанцова Надежда Викторовна" userId="226becd4-f0f8-49df-99a5-d0cd7b04a91c" providerId="ADAL" clId="{27715EB6-6E3C-4086-81D3-E79B7ACBE56C}" dt="2022-04-29T11:52:05.120" v="2613" actId="20577"/>
      <pc:docMkLst>
        <pc:docMk/>
      </pc:docMkLst>
      <pc:sldChg chg="addSp delSp modSp mod modNotesTx">
        <pc:chgData name="Басанцова Надежда Викторовна" userId="226becd4-f0f8-49df-99a5-d0cd7b04a91c" providerId="ADAL" clId="{27715EB6-6E3C-4086-81D3-E79B7ACBE56C}" dt="2022-04-29T11:52:05.120" v="2613" actId="20577"/>
        <pc:sldMkLst>
          <pc:docMk/>
          <pc:sldMk cId="377862019" sldId="278"/>
        </pc:sldMkLst>
      </pc:sldChg>
    </pc:docChg>
  </pc:docChgLst>
  <pc:docChgLst>
    <pc:chgData name="Лёвкина Наталья" userId="430a77c7-2aa0-412b-9874-6952fe3919bd" providerId="ADAL" clId="{CFA732C1-BAE8-42DD-8D58-6A6BF91AE0B3}"/>
    <pc:docChg chg="modSld">
      <pc:chgData name="Лёвкина Наталья" userId="430a77c7-2aa0-412b-9874-6952fe3919bd" providerId="ADAL" clId="{CFA732C1-BAE8-42DD-8D58-6A6BF91AE0B3}" dt="2022-05-04T06:19:54.046" v="0" actId="20577"/>
      <pc:docMkLst>
        <pc:docMk/>
      </pc:docMkLst>
      <pc:sldChg chg="modNotesTx">
        <pc:chgData name="Лёвкина Наталья" userId="430a77c7-2aa0-412b-9874-6952fe3919bd" providerId="ADAL" clId="{CFA732C1-BAE8-42DD-8D58-6A6BF91AE0B3}" dt="2022-05-04T06:19:54.046" v="0" actId="20577"/>
        <pc:sldMkLst>
          <pc:docMk/>
          <pc:sldMk cId="377862019" sldId="27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</a:t>
            </a:r>
            <a:r>
              <a:rPr lang="ru-RU" dirty="0"/>
              <a:t>- 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декабря 2021 по май 2022, результаты за 5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1 сменный режим работы (по 12 часов, без выходных)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в потоке в смену – 6-8 человек</a:t>
            </a:r>
          </a:p>
          <a:p>
            <a:pPr marL="171450" indent="-171450">
              <a:buFontTx/>
              <a:buChar char="-"/>
            </a:pPr>
            <a:r>
              <a:rPr lang="ru-RU" dirty="0"/>
              <a:t>Объем в выручке – 4%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большое количество ручного труда, рынок требует больше продукта</a:t>
            </a: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200" b="0" i="0" dirty="0">
                <a:solidFill>
                  <a:schemeClr val="accent1">
                    <a:lumMod val="75000"/>
                  </a:schemeClr>
                </a:solidFill>
                <a:effectLst/>
                <a:latin typeface="Open sands"/>
              </a:rPr>
              <a:t>Железобетонные изделия – это  многокомпонентные строительные материалы, которые представляют  собой сплавленную арматуру залитую бетоном.  Железобетонные изделия используются  для строительства жилых, комплексных, фабричных зданий, технических сооружений и используются в дорожном строительстве.</a:t>
            </a:r>
          </a:p>
          <a:p>
            <a:pPr marL="0" indent="0">
              <a:buFontTx/>
              <a:buNone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endParaRPr lang="ru-RU" b="1" dirty="0"/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1: Время ожидания поставки бетона останавливает работу производства на 3 часа дольше, чем запланировано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технологического процесса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операции, не приносящие ценности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производственный анализ</a:t>
            </a:r>
            <a:r>
              <a:rPr lang="ru-RU" dirty="0"/>
              <a:t>,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выявили постоянно повторяющуюся проблему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ожидания поставки бетона</a:t>
            </a:r>
            <a:r>
              <a:rPr lang="ru-RU" dirty="0"/>
              <a:t> 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cs typeface="Calibri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 результату анализа было выделено отдельное автотранспортное средство для своевременной подачи бетона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-Реализован подход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in time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подача бетона производится ровно тогда, когда существует производственная потребность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ожидания подачи бетона со 180 до 15 минут.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80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2: Готовая продукция занимает площади в цеху  и затрудняет производственный процесс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картирование производственного процесса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проблемы (в частности: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готовая продукция занимает площади в цеху  и затрудняет производственный процесс)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-Разработали план мероприятий по их устранению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-Согласно принятому решению переместили склад готовой продукции на уличное хранение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Разработали стандарт на уличное хранение готовой продукции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cs typeface="Calibri" panose="020F0502020204030204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Хранение готовой продукции перенесено из цеха на уличный склад, что позволило высвободить производственные площади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3: Незапланированные остановки производства при подаче бетона/отгрузке готовой продукции.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технологического процесса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операции, не приносящие ценности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Разработали диаграмму «Спагетти»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анализ ВПП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 результату анализа было разработано решение: открыть вторые ворота в цеху, проложить рельсовый путь и ввести в эксплуатацию автотранспортное средство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подачи бетона и отгрузки готовой продукции не останавливают работу цеха.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4: Длительный нерегламентированный процесс сушки железобетонных плит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цикла сушки изделий,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-Выявили, что текущий технологический процесс не стабилен, отсутствуют нормы выработки, пересмотрели нормы, ознакомили персонал, контролируется отклонение от нормы на ежедневной основе.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эксперимент с пластифицирующими добавками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-Предприятием был произведен ввод в эксплуатацию оборудования, что позволило сократить время сушки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заново хронометраж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-Разработали стандарт технологического процесса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времени сушки железобетонных плит с 16 до 10 часов, сокращение затрат на газ в 2 раза.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cs typeface="Calibri"/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46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sz="1600" dirty="0"/>
            </a:br>
            <a:r>
              <a:rPr lang="ru-RU" sz="1600" dirty="0"/>
              <a:t>*</a:t>
            </a:r>
            <a:r>
              <a:rPr lang="ru-RU" sz="1600" b="1" dirty="0"/>
              <a:t>Контактная информация: </a:t>
            </a:r>
            <a:r>
              <a: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</a:t>
            </a:r>
            <a:r>
              <a:rPr lang="ru-RU" sz="1600" dirty="0"/>
              <a:t>- +79312409850; </a:t>
            </a:r>
            <a:br>
              <a:rPr lang="ru-RU" sz="1600" dirty="0"/>
            </a:br>
            <a:r>
              <a:rPr lang="ru-RU" sz="1600" dirty="0"/>
              <a:t>*</a:t>
            </a:r>
            <a:r>
              <a:rPr lang="ru-RU" sz="1600" b="1" dirty="0"/>
              <a:t>Срок реализации проекта: </a:t>
            </a:r>
            <a:r>
              <a:rPr lang="ru-RU" sz="1600" dirty="0"/>
              <a:t>с декабря 2021 по май 2022, результаты за 5 мес. работы</a:t>
            </a:r>
          </a:p>
          <a:p>
            <a:r>
              <a:rPr lang="ru-RU" sz="1600" dirty="0"/>
              <a:t>*</a:t>
            </a:r>
            <a:r>
              <a:rPr lang="ru-RU" sz="1600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Режим работы предприятия/потока – 1 сменный режим работы (по 12 часов, без выходных)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Численность сотрудников в потоке в смену – 6-8 человек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Объем в выручке – 4%</a:t>
            </a:r>
          </a:p>
          <a:p>
            <a:pPr marL="171450" indent="-171450">
              <a:buFontTx/>
              <a:buChar char="-"/>
            </a:pPr>
            <a:r>
              <a:rPr lang="ru-RU" sz="1600" dirty="0"/>
              <a:t>Причина открытия проекта именно в этом потоке – большое количество ручного труда, рынок требует больше продукта</a:t>
            </a:r>
            <a:endParaRPr lang="ru-RU" sz="1600" b="1" dirty="0"/>
          </a:p>
          <a:p>
            <a:pPr marL="0" indent="0">
              <a:buFontTx/>
              <a:buNone/>
            </a:pPr>
            <a:r>
              <a:rPr lang="ru-RU" sz="1600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Open sands"/>
              </a:rPr>
              <a:t>Железобетонные изделия – это  многокомпонентные строительные материалы, которые представляют  собой сплавленную арматуру залитую бетоном.  Железобетонные изделия используются  для строительства жилых, комплексных, фабричных зданий, технических сооружений и используются в дорожном строительстве.</a:t>
            </a:r>
          </a:p>
          <a:p>
            <a:pPr marL="0" indent="0">
              <a:buFontTx/>
              <a:buNone/>
            </a:pPr>
            <a:endParaRPr lang="ru-RU" sz="1600" b="1" dirty="0"/>
          </a:p>
          <a:p>
            <a:pPr marL="0" indent="0">
              <a:buFontTx/>
              <a:buNone/>
            </a:pPr>
            <a:r>
              <a:rPr lang="ru-RU" sz="1600" b="1" dirty="0"/>
              <a:t>Информация о проекте: </a:t>
            </a:r>
          </a:p>
          <a:p>
            <a:endParaRPr lang="ru-RU" sz="1600" b="1" dirty="0"/>
          </a:p>
          <a:p>
            <a:pPr lvl="0"/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1: Время ожидания поставки бетона останавливает работу производства на 3 часа дольше, чем запланировано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технологического процесса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операции, не приносящие ценности</a:t>
            </a:r>
          </a:p>
          <a:p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производственный анализ</a:t>
            </a:r>
            <a:r>
              <a:rPr lang="ru-RU" sz="1600" dirty="0"/>
              <a:t>,</a:t>
            </a:r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выявили постоянно повторяющуюся проблему </a:t>
            </a:r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ожидания поставки бетона</a:t>
            </a:r>
            <a:r>
              <a:rPr lang="ru-RU" sz="1600" dirty="0"/>
              <a:t> 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cs typeface="Calibri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 результату анализа было выделено отдельное автотранспортное средство для своевременной подачи бетона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-Реализован подход 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in time</a:t>
            </a:r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подача бетона производится ровно тогда, когда существует производственная потребность</a:t>
            </a: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ожидания подачи бетона со 180 до 15 минут.</a:t>
            </a:r>
            <a:endParaRPr lang="ru-RU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240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lvl="0"/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2: Готовая продукция занимает площади в цеху  и затрудняет производственный процесс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картирование производственного процесса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проблемы (в частности: </a:t>
            </a:r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готовая продукция занимает площади в цеху  и затрудняет производственный процесс)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-Разработали план мероприятий по их устранению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-Согласно принятому решению переместили склад готовой продукции на уличное хранение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Разработали стандарт на уличное хранение готовой продукции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cs typeface="Calibri" panose="020F0502020204030204"/>
            </a:endParaRP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Хранение готовой продукции перенесено из цеха на уличный склад, что позволило высвободить производственные площади</a:t>
            </a:r>
            <a:endParaRPr lang="ru-RU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3: Незапланированные остановки производства при подаче бетона/отгрузке готовой продукции.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технологического процесса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 операции, не приносящие ценности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Разработали диаграмму «Спагетти»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анализ ВПП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-По результату анализа было разработано решение: открыть вторые ворота в цеху, проложить рельсовый путь и ввести в эксплуатацию автотранспортное средство</a:t>
            </a: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Потоки подачи бетона и отгрузки готовой продукции не останавливают работу цеха.</a:t>
            </a:r>
            <a:endParaRPr lang="ru-RU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4: Длительный нерегламентированный процесс сушки железобетонных плит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хронометраж цикла сушки изделий,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-Выявили, что текущий технологический процесс не стабилен, отсутствуют нормы выработки, пересмотрели нормы, ознакомили персонал, контролируется отклонение от нормы на ежедневной основе.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эксперимент с пластифицирующими добавками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-Предприятием был произведен ввод в эксплуатацию оборудования, что позволило сократить время сушки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-Провели заново хронометраж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-Разработали стандарт технологического процесса</a:t>
            </a:r>
          </a:p>
          <a:p>
            <a:pPr lvl="0"/>
            <a:endParaRPr lang="ru-RU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 </a:t>
            </a:r>
          </a:p>
          <a:p>
            <a:pPr lvl="0"/>
            <a:r>
              <a:rPr lang="ru-RU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времени сушки железобетонных плит с 16 до 10 часов, сокращение затрат на газ в 2 раза.</a:t>
            </a:r>
            <a:endParaRPr lang="ru-RU" sz="1600" kern="1200" dirty="0">
              <a:solidFill>
                <a:schemeClr val="tx1"/>
              </a:solidFill>
              <a:effectLst/>
              <a:latin typeface="+mn-lt"/>
              <a:cs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791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hart" Target="../charts/chart2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2E69-A74A-4881-973C-B78B4886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BCBE8-FE69-4B5A-8D92-D5B33222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2A11B-98E2-4794-8A2A-036995D3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038A8-D678-4D46-8310-3646E4C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F67F6-CB35-4FA1-9D1B-CB230999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70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DF2A9-9BF8-4ADA-8B51-5AB4203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47B8C-A017-40B6-9D6A-BC5C1C16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1D03A-2544-462C-9FF2-8D96F173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95919-F3D2-46E3-9E8E-81F854D0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FB08A-6966-48C7-8400-0762689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5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3629D-64A0-486D-A1F8-E7B463CF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3BBB6-9429-45D4-82F3-AC707FB6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67550-FF97-49D9-B6C9-9AD8CA9C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30415-5D4D-40E5-B2E6-967E446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7514E-8BD0-4A95-A36F-D6D019A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2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A2EF5-190F-4C58-ABE7-CF99694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6A418-958F-4923-9C9A-9C68A33D4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FA1DD-01A2-4F14-9526-698A10A8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9656D-CD42-4EFC-97B0-176F22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C9A2-96BF-40AE-8957-D137F06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17764-D05D-4EB7-8304-B6BCD302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5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7FA7-F0C3-419E-B2E6-BD125A66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77BE1-D0D8-4E13-83F5-75B96E8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1E194B-566B-4571-96CE-051B3377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3A31FF-F342-4FD1-B104-04A31FB4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26B3C-97B4-474D-8759-A4CEFBA2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73D56-0F46-491C-BA25-DC0F312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BB8975-458C-4A5B-AF1C-FDBEFD2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BC5D44-B5DE-46DE-9880-ABBEB18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33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C81-9CD7-4A4E-B02B-7881C78C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FA7F6-EDC0-472D-8FE0-DF60F4A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1350F5-C8C5-406A-9947-47E08E4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9C7AA-52B1-4EE6-B436-C2B04C7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39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C4FF1-DD78-4ED2-A992-94EE7CC6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15ECF8-1952-4501-A52F-BA9BBE15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9236F-D1CC-4CC4-97BF-03A14571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4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9A80-B293-44BB-8437-DF0D398A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61DA-03E0-460B-AF13-86806349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922A1-D3D5-4797-AB48-FA6EDF58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B71EF-892F-4A1D-9747-837BF45F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686FB-AF5A-4A8A-B17E-EF8D27F4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B7393-28B0-451D-BC86-A110D03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3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9111-DFCA-4F73-A64B-4611240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602074-9E75-4596-840C-4545D608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DCFACB-BE8F-4D37-9A80-1AF88301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87DEF-1AF6-4AA6-9E29-19A0C3ED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34596-F6E0-4208-8704-44C3DA4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D1B824-94F9-46DE-995A-DE14C3E6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011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2D48C-3C6C-429E-AAF4-5FC02C5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98F580-6693-4D11-B526-8CB8F5CE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692C-64B4-4428-8623-AD780D0E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CE20D-3B53-469C-A7C8-C94B12A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D10D1-3B2F-4616-A5C0-338D60E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82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7115C-E65C-4AC7-8DE5-82BCA3A4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9C84E3-507C-4243-91D5-4E51148BD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5C550-6D69-4A68-9339-0E8A1478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FB331-5B54-4FE2-85E2-669EBB84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16D53-2C7A-408F-B535-8470C47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B4474FAE-D306-4CAB-B284-793DBDDBA2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9045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395" imgH="396" progId="TCLayout.ActiveDocument.1">
                  <p:embed/>
                </p:oleObj>
              </mc:Choice>
              <mc:Fallback>
                <p:oleObj name="Слайд think-cell" r:id="rId8" imgW="395" imgH="396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B4474FAE-D306-4CAB-B284-793DBDDBA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>
            <a:extLst>
              <a:ext uri="{FF2B5EF4-FFF2-40B4-BE49-F238E27FC236}">
                <a16:creationId xmlns:a16="http://schemas.microsoft.com/office/drawing/2014/main" id="{00E04643-FFCF-4DB4-964D-9FFAD2B40D6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ru-RU" sz="1800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A2474-E6EA-46CF-B749-C11EDBF5C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209" y="462668"/>
            <a:ext cx="5553891" cy="646331"/>
          </a:xfrm>
        </p:spPr>
        <p:txBody>
          <a:bodyPr lIns="0"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u-RU"/>
              <a:t>Наименование организации</a:t>
            </a:r>
            <a:br>
              <a:rPr lang="ru-RU"/>
            </a:br>
            <a:r>
              <a:rPr lang="ru-RU"/>
              <a:t>Регион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41D7CC-54C4-47A5-831D-69EC140B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977" y="6409532"/>
            <a:ext cx="372745" cy="365125"/>
          </a:xfrm>
        </p:spPr>
        <p:txBody>
          <a:bodyPr/>
          <a:lstStyle/>
          <a:p>
            <a:fld id="{7D4836FE-67DB-4030-B61F-7E4FB502A8A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B64B703-96F9-4920-AE97-0E0229E835CC}"/>
              </a:ext>
            </a:extLst>
          </p:cNvPr>
          <p:cNvSpPr txBox="1">
            <a:spLocks/>
          </p:cNvSpPr>
          <p:nvPr userDrawn="1"/>
        </p:nvSpPr>
        <p:spPr>
          <a:xfrm>
            <a:off x="542112" y="113599"/>
            <a:ext cx="8831483" cy="34906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b="1">
                <a:solidFill>
                  <a:srgbClr val="0070C0"/>
                </a:solidFill>
              </a:rPr>
              <a:t>Примеры вскрытия резервов производительности</a:t>
            </a:r>
            <a:endParaRPr lang="ru-RU" sz="2300" b="1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225DDE4-89FC-4C34-B057-D07FC697C740}"/>
              </a:ext>
            </a:extLst>
          </p:cNvPr>
          <p:cNvCxnSpPr/>
          <p:nvPr userDrawn="1"/>
        </p:nvCxnSpPr>
        <p:spPr>
          <a:xfrm>
            <a:off x="578624" y="1134307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2FC6996-8FCE-4AFB-B572-A222827417B0}"/>
              </a:ext>
            </a:extLst>
          </p:cNvPr>
          <p:cNvCxnSpPr/>
          <p:nvPr userDrawn="1"/>
        </p:nvCxnSpPr>
        <p:spPr>
          <a:xfrm>
            <a:off x="578624" y="1767528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23">
            <a:extLst>
              <a:ext uri="{FF2B5EF4-FFF2-40B4-BE49-F238E27FC236}">
                <a16:creationId xmlns:a16="http://schemas.microsoft.com/office/drawing/2014/main" id="{F68A7246-6099-4AE2-9883-01F0D9A4F8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100"/>
            <a:ext cx="5715000" cy="646333"/>
          </a:xfrm>
        </p:spPr>
        <p:txBody>
          <a:bodyPr rIns="0" anchor="ctr"/>
          <a:lstStyle>
            <a:lvl1pPr marL="0" indent="0" algn="r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ru-RU"/>
              <a:t>Отрасль в соответствии с ОКВЕД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6D201E9-2DE2-4666-B943-85E54B5E03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1840" y="1158692"/>
            <a:ext cx="9788784" cy="58196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Название пилотного потока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3B8A6-34CA-4576-A4DC-3ABC36429D4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578627" y="1158695"/>
            <a:ext cx="1358581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1600">
                <a:solidFill>
                  <a:schemeClr val="bg1">
                    <a:lumMod val="50000"/>
                  </a:schemeClr>
                </a:solidFill>
              </a:rPr>
              <a:t>Пилотный поток: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A4EA0DE-AEFA-494B-BF74-BAA880EEA6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3720653" y="1783538"/>
            <a:ext cx="3115016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Основные мероприятия: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242E3B-12DD-4460-99BC-AED62C071741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2851" y="1783538"/>
            <a:ext cx="311501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Основной результат: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DB731E-7E9F-491E-B50B-D662BFBFAA5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8305802" y="1783536"/>
            <a:ext cx="350482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Показатели пилотного потока: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D4FD95-8BFE-499E-ADA9-916D9C7E7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852" y="2106614"/>
            <a:ext cx="3010013" cy="300082"/>
          </a:xfrm>
        </p:spPr>
        <p:txBody>
          <a:bodyPr lIns="0">
            <a:spAutoFit/>
          </a:bodyPr>
          <a:lstStyle>
            <a:lvl1pPr marL="0" indent="0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результат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EA27555-38F0-4EFF-9455-BCD424C05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49529" y="2106610"/>
            <a:ext cx="4515632" cy="300082"/>
          </a:xfrm>
        </p:spPr>
        <p:txBody>
          <a:bodyPr wrap="square">
            <a:spAutoFit/>
          </a:bodyPr>
          <a:lstStyle>
            <a:lvl1pPr marL="266687" indent="-266687">
              <a:buClr>
                <a:srgbClr val="0070C0"/>
              </a:buClr>
              <a:buFont typeface="+mj-lt"/>
              <a:buAutoNum type="arabicPeriod"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мероприятий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392BFB0-074D-45DB-B32C-A046D6E770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739" y="3994487"/>
            <a:ext cx="3010013" cy="24150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graphicFrame>
        <p:nvGraphicFramePr>
          <p:cNvPr id="42" name="Диаграмма 41">
            <a:extLst>
              <a:ext uri="{FF2B5EF4-FFF2-40B4-BE49-F238E27FC236}">
                <a16:creationId xmlns:a16="http://schemas.microsoft.com/office/drawing/2014/main" id="{62AA4875-FA4E-4D89-A8ED-4B342F29363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15083973"/>
              </p:ext>
            </p:extLst>
          </p:nvPr>
        </p:nvGraphicFramePr>
        <p:xfrm>
          <a:off x="8305801" y="2486204"/>
          <a:ext cx="3606801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0130B009-9F31-4A09-9719-FDDA22266A7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01884550"/>
              </p:ext>
            </p:extLst>
          </p:nvPr>
        </p:nvGraphicFramePr>
        <p:xfrm>
          <a:off x="8305799" y="3994417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76273F7-CC80-44A8-9EAC-148C5383F56E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2579025"/>
            <a:ext cx="0" cy="2217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441BF36-05BB-4A82-8F30-697613F8C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2579025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3C2761-22DF-4BCB-99E1-D4D678C71993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2579027"/>
            <a:ext cx="0" cy="1244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D166DFE-0CF9-4467-8E4D-CB256B4A7D8C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4068344"/>
            <a:ext cx="0" cy="8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FAFB2F1-31A3-4088-9588-2CAD8CE92285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4068344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C4879E4-292F-4D8C-B15A-464D16E4A1A6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4068344"/>
            <a:ext cx="0" cy="286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8ABDAAF-15AD-4945-A59C-861800509FD7}"/>
              </a:ext>
            </a:extLst>
          </p:cNvPr>
          <p:cNvGrpSpPr/>
          <p:nvPr userDrawn="1"/>
        </p:nvGrpSpPr>
        <p:grpSpPr>
          <a:xfrm>
            <a:off x="9270624" y="5566943"/>
            <a:ext cx="1671696" cy="286909"/>
            <a:chOff x="9270624" y="5567790"/>
            <a:chExt cx="1671696" cy="286909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3618FDA-8E6C-4ADB-88B6-25E7C9A9D2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276080" y="5567790"/>
              <a:ext cx="0" cy="879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595AF57-F0EB-42DF-AB43-EB836ED90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70624" y="5567790"/>
              <a:ext cx="167169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2AA6DC7F-53B3-4B38-B26E-BC0BD2386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0" name="Диаграмма 69">
            <a:extLst>
              <a:ext uri="{FF2B5EF4-FFF2-40B4-BE49-F238E27FC236}">
                <a16:creationId xmlns:a16="http://schemas.microsoft.com/office/drawing/2014/main" id="{36ABC2AF-90A2-4712-BAAB-A0633301EB6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92200644"/>
              </p:ext>
            </p:extLst>
          </p:nvPr>
        </p:nvGraphicFramePr>
        <p:xfrm>
          <a:off x="8305799" y="5495288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3" name="Стрелка: вниз 72">
            <a:extLst>
              <a:ext uri="{FF2B5EF4-FFF2-40B4-BE49-F238E27FC236}">
                <a16:creationId xmlns:a16="http://schemas.microsoft.com/office/drawing/2014/main" id="{2259E48A-40F0-4FC1-ABBB-D3E35C0F9795}"/>
              </a:ext>
            </a:extLst>
          </p:cNvPr>
          <p:cNvSpPr/>
          <p:nvPr userDrawn="1"/>
        </p:nvSpPr>
        <p:spPr>
          <a:xfrm rot="10800000">
            <a:off x="8425135" y="2160055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2C334731-BEC0-43FD-899B-22B6FA575C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5133" y="2130754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Выработка, ед. изм.</a:t>
            </a:r>
          </a:p>
        </p:txBody>
      </p:sp>
      <p:sp>
        <p:nvSpPr>
          <p:cNvPr id="78" name="Текст 76">
            <a:extLst>
              <a:ext uri="{FF2B5EF4-FFF2-40B4-BE49-F238E27FC236}">
                <a16:creationId xmlns:a16="http://schemas.microsoft.com/office/drawing/2014/main" id="{4472D27B-ECB8-4AF7-8C4D-A83E391BA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435" y="2779726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+XX</a:t>
            </a:r>
            <a:r>
              <a:rPr lang="ru-RU"/>
              <a:t>%</a:t>
            </a:r>
          </a:p>
        </p:txBody>
      </p:sp>
      <p:sp>
        <p:nvSpPr>
          <p:cNvPr id="79" name="Стрелка: вниз 78">
            <a:extLst>
              <a:ext uri="{FF2B5EF4-FFF2-40B4-BE49-F238E27FC236}">
                <a16:creationId xmlns:a16="http://schemas.microsoft.com/office/drawing/2014/main" id="{AA397730-4CC6-4176-91D4-A7A55B8638DE}"/>
              </a:ext>
            </a:extLst>
          </p:cNvPr>
          <p:cNvSpPr/>
          <p:nvPr userDrawn="1"/>
        </p:nvSpPr>
        <p:spPr>
          <a:xfrm>
            <a:off x="8425135" y="3679263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84" name="Стрелка: вниз 83">
            <a:extLst>
              <a:ext uri="{FF2B5EF4-FFF2-40B4-BE49-F238E27FC236}">
                <a16:creationId xmlns:a16="http://schemas.microsoft.com/office/drawing/2014/main" id="{B559F30E-9C0A-46D1-BB8F-976113884CCC}"/>
              </a:ext>
            </a:extLst>
          </p:cNvPr>
          <p:cNvSpPr/>
          <p:nvPr userDrawn="1"/>
        </p:nvSpPr>
        <p:spPr>
          <a:xfrm>
            <a:off x="8425135" y="5179451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0" name="Текст 89">
            <a:extLst>
              <a:ext uri="{FF2B5EF4-FFF2-40B4-BE49-F238E27FC236}">
                <a16:creationId xmlns:a16="http://schemas.microsoft.com/office/drawing/2014/main" id="{A8A6CF97-3C34-490F-9DA1-BEE6EE83B9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3791" y="5805481"/>
            <a:ext cx="2086648" cy="524408"/>
          </a:xfrm>
        </p:spPr>
        <p:txBody>
          <a:bodyPr lIns="0" rIns="0">
            <a:noAutofit/>
          </a:bodyPr>
          <a:lstStyle>
            <a:lvl1pPr marL="0" indent="0" algn="r">
              <a:buNone/>
              <a:defRPr lang="ru-RU" sz="3600" b="1" kern="1200" dirty="0">
                <a:ln w="6600">
                  <a:solidFill>
                    <a:srgbClr val="0070C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0070C0"/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+</a:t>
            </a:r>
            <a:r>
              <a:rPr lang="en-US"/>
              <a:t>XX%</a:t>
            </a:r>
            <a:endParaRPr lang="ru-RU"/>
          </a:p>
        </p:txBody>
      </p:sp>
      <p:sp>
        <p:nvSpPr>
          <p:cNvPr id="91" name="Текст 35">
            <a:extLst>
              <a:ext uri="{FF2B5EF4-FFF2-40B4-BE49-F238E27FC236}">
                <a16:creationId xmlns:a16="http://schemas.microsoft.com/office/drawing/2014/main" id="{7C425C0E-6771-43CA-B36A-8AD42AEB99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49531" y="5803289"/>
            <a:ext cx="4556271" cy="507831"/>
          </a:xfrm>
        </p:spPr>
        <p:txBody>
          <a:bodyPr wrap="square">
            <a:spAutoFit/>
          </a:bodyPr>
          <a:lstStyle>
            <a:lvl1pPr marL="0" indent="0">
              <a:buClr>
                <a:srgbClr val="0070C0"/>
              </a:buClr>
              <a:buFont typeface="+mj-lt"/>
              <a:buNone/>
              <a:defRPr sz="15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Дополнительный комментарий (к НЗП или прямому эк. эффекту)</a:t>
            </a:r>
          </a:p>
        </p:txBody>
      </p:sp>
      <p:sp>
        <p:nvSpPr>
          <p:cNvPr id="92" name="Текст 74">
            <a:extLst>
              <a:ext uri="{FF2B5EF4-FFF2-40B4-BE49-F238E27FC236}">
                <a16:creationId xmlns:a16="http://schemas.microsoft.com/office/drawing/2014/main" id="{AF4B6396-E781-4381-B4DA-1BADFDB04F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5133" y="3629241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НЗП в потоке, ед. изм.</a:t>
            </a:r>
          </a:p>
        </p:txBody>
      </p:sp>
      <p:sp>
        <p:nvSpPr>
          <p:cNvPr id="93" name="Текст 74">
            <a:extLst>
              <a:ext uri="{FF2B5EF4-FFF2-40B4-BE49-F238E27FC236}">
                <a16:creationId xmlns:a16="http://schemas.microsoft.com/office/drawing/2014/main" id="{A419171E-2630-4967-B257-AD40022120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5133" y="5126345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ВПП объекта, ед. изм.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69EA4-9D0E-4FEB-B6BE-AC86A9C67F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930901" y="285854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04D0C788-9948-44E7-9B91-0E274AA8ABF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89897" y="2814096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5" name="Объект 3">
            <a:extLst>
              <a:ext uri="{FF2B5EF4-FFF2-40B4-BE49-F238E27FC236}">
                <a16:creationId xmlns:a16="http://schemas.microsoft.com/office/drawing/2014/main" id="{9AB87E37-1B82-4C26-AF63-8281E564733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930901" y="429571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8" name="Объект 3">
            <a:extLst>
              <a:ext uri="{FF2B5EF4-FFF2-40B4-BE49-F238E27FC236}">
                <a16:creationId xmlns:a16="http://schemas.microsoft.com/office/drawing/2014/main" id="{590ED328-E564-4A7B-B5CE-B0ED65ACF61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589897" y="4390963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9" name="Объект 3">
            <a:extLst>
              <a:ext uri="{FF2B5EF4-FFF2-40B4-BE49-F238E27FC236}">
                <a16:creationId xmlns:a16="http://schemas.microsoft.com/office/drawing/2014/main" id="{637994A3-6710-4285-9D6C-4C5DD04F8B2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930901" y="579663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1" name="Объект 3">
            <a:extLst>
              <a:ext uri="{FF2B5EF4-FFF2-40B4-BE49-F238E27FC236}">
                <a16:creationId xmlns:a16="http://schemas.microsoft.com/office/drawing/2014/main" id="{8559EDF1-C875-4B6F-BA10-8192EA4D7C7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589897" y="589188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2" name="Текст 76">
            <a:extLst>
              <a:ext uri="{FF2B5EF4-FFF2-40B4-BE49-F238E27FC236}">
                <a16:creationId xmlns:a16="http://schemas.microsoft.com/office/drawing/2014/main" id="{599F75EF-EF5B-4A3D-B489-7EBEF16E90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435" y="4250630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  <p:sp>
        <p:nvSpPr>
          <p:cNvPr id="53" name="Текст 76">
            <a:extLst>
              <a:ext uri="{FF2B5EF4-FFF2-40B4-BE49-F238E27FC236}">
                <a16:creationId xmlns:a16="http://schemas.microsoft.com/office/drawing/2014/main" id="{4B0387DB-6983-4692-BE8A-67B19E9E58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6435" y="5749329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53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73BD-475E-4082-ACFD-29612C1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5F80E5-55F3-4A16-823E-99272333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BC011-7245-4050-8A12-2D5DEA19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F14EE-7455-4042-86BC-133D499D01AE}" type="datetimeFigureOut">
              <a:rPr lang="ru-RU" smtClean="0"/>
              <a:t>29.07.2025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0889-34B0-4171-B5D5-0B0EACFA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0A922C-31A3-4D99-87E8-5057D0723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 descr="Изображение выглядит как кровать, мебель, противень&#10;&#10;Автоматически созданное описание">
            <a:extLst>
              <a:ext uri="{FF2B5EF4-FFF2-40B4-BE49-F238E27FC236}">
                <a16:creationId xmlns:a16="http://schemas.microsoft.com/office/drawing/2014/main" id="{D1823847-745B-EA0F-BEB8-78A48FC2B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42" y="4374597"/>
            <a:ext cx="2043373" cy="2043373"/>
          </a:xfrm>
          <a:prstGeom prst="rect">
            <a:avLst/>
          </a:prstGeom>
        </p:spPr>
      </p:pic>
      <p:pic>
        <p:nvPicPr>
          <p:cNvPr id="53" name="Рисунок 52" descr="Изображение выглядит как текст, коллекция картинок&#10;&#10;Автоматически созданное описание">
            <a:extLst>
              <a:ext uri="{FF2B5EF4-FFF2-40B4-BE49-F238E27FC236}">
                <a16:creationId xmlns:a16="http://schemas.microsoft.com/office/drawing/2014/main" id="{148715D1-0FF9-5E57-087B-AB839C0FD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685" y="195995"/>
            <a:ext cx="1075722" cy="906766"/>
          </a:xfrm>
          <a:prstGeom prst="rect">
            <a:avLst/>
          </a:prstGeom>
        </p:spPr>
      </p:pic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5755876" y="1065390"/>
            <a:ext cx="5944765" cy="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 lnSpcReduction="10000"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600" b="0" i="0" dirty="0">
                <a:solidFill>
                  <a:srgbClr val="7F7F7F"/>
                </a:solidFill>
                <a:effectLst/>
                <a:latin typeface="Bpmonline Open Sans"/>
              </a:rPr>
              <a:t>Отрасль (ОКВЭД 2). </a:t>
            </a:r>
          </a:p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600" b="0" i="0" dirty="0">
                <a:solidFill>
                  <a:srgbClr val="7F7F7F"/>
                </a:solidFill>
                <a:effectLst/>
                <a:latin typeface="Bpmonline Open Sans"/>
              </a:rPr>
              <a:t>Код  23.63</a:t>
            </a:r>
            <a:r>
              <a:rPr lang="ru-RU" sz="1600" dirty="0">
                <a:solidFill>
                  <a:srgbClr val="7F7F7F"/>
                </a:solidFill>
                <a:latin typeface="Bpmonline Open Sans"/>
              </a:rPr>
              <a:t> Производство товарного бетона</a:t>
            </a:r>
            <a:endParaRPr lang="ru-RU" sz="1600" dirty="0">
              <a:solidFill>
                <a:srgbClr val="7F7F7F"/>
              </a:solidFill>
              <a:latin typeface="Bpmonline Open Sans"/>
              <a:sym typeface="Montserrat ExtraBold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7676" y="315834"/>
            <a:ext cx="1356565" cy="5813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gf9645b2320_6_610"/>
          <p:cNvGrpSpPr/>
          <p:nvPr/>
        </p:nvGrpSpPr>
        <p:grpSpPr>
          <a:xfrm>
            <a:off x="2248755" y="956926"/>
            <a:ext cx="773527" cy="773527"/>
            <a:chOff x="4698101" y="6662812"/>
            <a:chExt cx="1403350" cy="1403350"/>
          </a:xfrm>
        </p:grpSpPr>
        <p:sp>
          <p:nvSpPr>
            <p:cNvPr id="625" name="Google Shape;625;gf9645b2320_6_610"/>
            <p:cNvSpPr/>
            <p:nvPr/>
          </p:nvSpPr>
          <p:spPr>
            <a:xfrm>
              <a:off x="4698101" y="6662812"/>
              <a:ext cx="1403350" cy="1403350"/>
            </a:xfrm>
            <a:custGeom>
              <a:avLst/>
              <a:gdLst/>
              <a:ahLst/>
              <a:cxnLst/>
              <a:rect l="l" t="t" r="r" b="b"/>
              <a:pathLst>
                <a:path w="1403350" h="1403350" extrusionOk="0">
                  <a:moveTo>
                    <a:pt x="701545" y="0"/>
                  </a:moveTo>
                  <a:lnTo>
                    <a:pt x="653512" y="1618"/>
                  </a:lnTo>
                  <a:lnTo>
                    <a:pt x="606348" y="6404"/>
                  </a:lnTo>
                  <a:lnTo>
                    <a:pt x="560158" y="14253"/>
                  </a:lnTo>
                  <a:lnTo>
                    <a:pt x="515045" y="25060"/>
                  </a:lnTo>
                  <a:lnTo>
                    <a:pt x="471114" y="38721"/>
                  </a:lnTo>
                  <a:lnTo>
                    <a:pt x="428470" y="55132"/>
                  </a:lnTo>
                  <a:lnTo>
                    <a:pt x="387217" y="74187"/>
                  </a:lnTo>
                  <a:lnTo>
                    <a:pt x="347460" y="95783"/>
                  </a:lnTo>
                  <a:lnTo>
                    <a:pt x="309303" y="119815"/>
                  </a:lnTo>
                  <a:lnTo>
                    <a:pt x="272850" y="146178"/>
                  </a:lnTo>
                  <a:lnTo>
                    <a:pt x="238206" y="174768"/>
                  </a:lnTo>
                  <a:lnTo>
                    <a:pt x="205476" y="205481"/>
                  </a:lnTo>
                  <a:lnTo>
                    <a:pt x="174764" y="238211"/>
                  </a:lnTo>
                  <a:lnTo>
                    <a:pt x="146174" y="272855"/>
                  </a:lnTo>
                  <a:lnTo>
                    <a:pt x="119811" y="309308"/>
                  </a:lnTo>
                  <a:lnTo>
                    <a:pt x="95780" y="347465"/>
                  </a:lnTo>
                  <a:lnTo>
                    <a:pt x="74185" y="387223"/>
                  </a:lnTo>
                  <a:lnTo>
                    <a:pt x="55130" y="428475"/>
                  </a:lnTo>
                  <a:lnTo>
                    <a:pt x="38720" y="471119"/>
                  </a:lnTo>
                  <a:lnTo>
                    <a:pt x="25059" y="515049"/>
                  </a:lnTo>
                  <a:lnTo>
                    <a:pt x="14252" y="560161"/>
                  </a:lnTo>
                  <a:lnTo>
                    <a:pt x="6404" y="606351"/>
                  </a:lnTo>
                  <a:lnTo>
                    <a:pt x="1618" y="653514"/>
                  </a:lnTo>
                  <a:lnTo>
                    <a:pt x="0" y="701545"/>
                  </a:lnTo>
                  <a:lnTo>
                    <a:pt x="1618" y="749577"/>
                  </a:lnTo>
                  <a:lnTo>
                    <a:pt x="6404" y="796741"/>
                  </a:lnTo>
                  <a:lnTo>
                    <a:pt x="14252" y="842931"/>
                  </a:lnTo>
                  <a:lnTo>
                    <a:pt x="25059" y="888044"/>
                  </a:lnTo>
                  <a:lnTo>
                    <a:pt x="38720" y="931975"/>
                  </a:lnTo>
                  <a:lnTo>
                    <a:pt x="55130" y="974619"/>
                  </a:lnTo>
                  <a:lnTo>
                    <a:pt x="74185" y="1015872"/>
                  </a:lnTo>
                  <a:lnTo>
                    <a:pt x="95780" y="1055629"/>
                  </a:lnTo>
                  <a:lnTo>
                    <a:pt x="119811" y="1093787"/>
                  </a:lnTo>
                  <a:lnTo>
                    <a:pt x="146174" y="1130239"/>
                  </a:lnTo>
                  <a:lnTo>
                    <a:pt x="174764" y="1164883"/>
                  </a:lnTo>
                  <a:lnTo>
                    <a:pt x="205476" y="1197613"/>
                  </a:lnTo>
                  <a:lnTo>
                    <a:pt x="238206" y="1228325"/>
                  </a:lnTo>
                  <a:lnTo>
                    <a:pt x="272850" y="1256915"/>
                  </a:lnTo>
                  <a:lnTo>
                    <a:pt x="309303" y="1283278"/>
                  </a:lnTo>
                  <a:lnTo>
                    <a:pt x="347460" y="1307309"/>
                  </a:lnTo>
                  <a:lnTo>
                    <a:pt x="387217" y="1328904"/>
                  </a:lnTo>
                  <a:lnTo>
                    <a:pt x="428470" y="1347959"/>
                  </a:lnTo>
                  <a:lnTo>
                    <a:pt x="471114" y="1364369"/>
                  </a:lnTo>
                  <a:lnTo>
                    <a:pt x="515045" y="1378030"/>
                  </a:lnTo>
                  <a:lnTo>
                    <a:pt x="560158" y="1388837"/>
                  </a:lnTo>
                  <a:lnTo>
                    <a:pt x="606348" y="1396686"/>
                  </a:lnTo>
                  <a:lnTo>
                    <a:pt x="653512" y="1401471"/>
                  </a:lnTo>
                  <a:lnTo>
                    <a:pt x="701545" y="1403090"/>
                  </a:lnTo>
                  <a:lnTo>
                    <a:pt x="749577" y="1401471"/>
                  </a:lnTo>
                  <a:lnTo>
                    <a:pt x="796741" y="1396686"/>
                  </a:lnTo>
                  <a:lnTo>
                    <a:pt x="842931" y="1388837"/>
                  </a:lnTo>
                  <a:lnTo>
                    <a:pt x="888044" y="1378030"/>
                  </a:lnTo>
                  <a:lnTo>
                    <a:pt x="931975" y="1364369"/>
                  </a:lnTo>
                  <a:lnTo>
                    <a:pt x="974619" y="1347959"/>
                  </a:lnTo>
                  <a:lnTo>
                    <a:pt x="1015872" y="1328904"/>
                  </a:lnTo>
                  <a:lnTo>
                    <a:pt x="1055629" y="1307309"/>
                  </a:lnTo>
                  <a:lnTo>
                    <a:pt x="1093787" y="1283278"/>
                  </a:lnTo>
                  <a:lnTo>
                    <a:pt x="1130239" y="1256915"/>
                  </a:lnTo>
                  <a:lnTo>
                    <a:pt x="1164883" y="1228325"/>
                  </a:lnTo>
                  <a:lnTo>
                    <a:pt x="1197613" y="1197613"/>
                  </a:lnTo>
                  <a:lnTo>
                    <a:pt x="1228325" y="1164883"/>
                  </a:lnTo>
                  <a:lnTo>
                    <a:pt x="1256915" y="1130239"/>
                  </a:lnTo>
                  <a:lnTo>
                    <a:pt x="1283278" y="1093787"/>
                  </a:lnTo>
                  <a:lnTo>
                    <a:pt x="1307309" y="1055629"/>
                  </a:lnTo>
                  <a:lnTo>
                    <a:pt x="1328904" y="1015872"/>
                  </a:lnTo>
                  <a:lnTo>
                    <a:pt x="1347959" y="974619"/>
                  </a:lnTo>
                  <a:lnTo>
                    <a:pt x="1364369" y="931975"/>
                  </a:lnTo>
                  <a:lnTo>
                    <a:pt x="1378030" y="888044"/>
                  </a:lnTo>
                  <a:lnTo>
                    <a:pt x="1388837" y="842931"/>
                  </a:lnTo>
                  <a:lnTo>
                    <a:pt x="1396686" y="796741"/>
                  </a:lnTo>
                  <a:lnTo>
                    <a:pt x="1401471" y="749577"/>
                  </a:lnTo>
                  <a:lnTo>
                    <a:pt x="1403090" y="701545"/>
                  </a:lnTo>
                  <a:lnTo>
                    <a:pt x="1401471" y="653514"/>
                  </a:lnTo>
                  <a:lnTo>
                    <a:pt x="1396686" y="606351"/>
                  </a:lnTo>
                  <a:lnTo>
                    <a:pt x="1388837" y="560161"/>
                  </a:lnTo>
                  <a:lnTo>
                    <a:pt x="1378030" y="515049"/>
                  </a:lnTo>
                  <a:lnTo>
                    <a:pt x="1364369" y="471119"/>
                  </a:lnTo>
                  <a:lnTo>
                    <a:pt x="1347959" y="428475"/>
                  </a:lnTo>
                  <a:lnTo>
                    <a:pt x="1328904" y="387223"/>
                  </a:lnTo>
                  <a:lnTo>
                    <a:pt x="1307309" y="347465"/>
                  </a:lnTo>
                  <a:lnTo>
                    <a:pt x="1283278" y="309308"/>
                  </a:lnTo>
                  <a:lnTo>
                    <a:pt x="1256915" y="272855"/>
                  </a:lnTo>
                  <a:lnTo>
                    <a:pt x="1228325" y="238211"/>
                  </a:lnTo>
                  <a:lnTo>
                    <a:pt x="1197613" y="205481"/>
                  </a:lnTo>
                  <a:lnTo>
                    <a:pt x="1164883" y="174768"/>
                  </a:lnTo>
                  <a:lnTo>
                    <a:pt x="1130239" y="146178"/>
                  </a:lnTo>
                  <a:lnTo>
                    <a:pt x="1093787" y="119815"/>
                  </a:lnTo>
                  <a:lnTo>
                    <a:pt x="1055629" y="95783"/>
                  </a:lnTo>
                  <a:lnTo>
                    <a:pt x="1015872" y="74187"/>
                  </a:lnTo>
                  <a:lnTo>
                    <a:pt x="974619" y="55132"/>
                  </a:lnTo>
                  <a:lnTo>
                    <a:pt x="931975" y="38721"/>
                  </a:lnTo>
                  <a:lnTo>
                    <a:pt x="888044" y="25060"/>
                  </a:lnTo>
                  <a:lnTo>
                    <a:pt x="842931" y="14253"/>
                  </a:lnTo>
                  <a:lnTo>
                    <a:pt x="796741" y="6404"/>
                  </a:lnTo>
                  <a:lnTo>
                    <a:pt x="749577" y="1618"/>
                  </a:lnTo>
                  <a:lnTo>
                    <a:pt x="701545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334" y="6315674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3261875" y="1098799"/>
            <a:ext cx="3540656" cy="593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27"/>
            </a:pPr>
            <a:r>
              <a:rPr lang="ru-RU" sz="1867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АО «</a:t>
            </a:r>
            <a:r>
              <a:rPr lang="ru-RU" sz="1867" b="1" dirty="0" err="1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БетоНИКА</a:t>
            </a:r>
            <a:r>
              <a:rPr lang="ru-RU" sz="1867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</a:t>
            </a:r>
            <a:br>
              <a:rPr lang="ru-RU" sz="1867" dirty="0">
                <a:solidFill>
                  <a:srgbClr val="0846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867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г. Санкт-Петербург</a:t>
            </a:r>
            <a:endParaRPr sz="1680" b="1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146314" y="1984192"/>
            <a:ext cx="9995510" cy="58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00" b="1" dirty="0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«Оптимизация процесса производства железобетонных изделий»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21167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21167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gf9645b2320_6_610"/>
          <p:cNvSpPr txBox="1"/>
          <p:nvPr/>
        </p:nvSpPr>
        <p:spPr>
          <a:xfrm>
            <a:off x="294217" y="2705301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257436" y="269826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918892" y="2737051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19484" y="3095897"/>
            <a:ext cx="2404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  </a:t>
            </a:r>
            <a:r>
              <a:rPr lang="ru-RU" sz="1067" dirty="0" err="1">
                <a:latin typeface="Montserrat"/>
                <a:ea typeface="Montserrat"/>
                <a:cs typeface="Montserrat"/>
                <a:sym typeface="Montserrat"/>
              </a:rPr>
              <a:t>Шт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\ чел\час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693658" y="3537000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923091" y="3790100"/>
            <a:ext cx="111616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+27%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9034985" y="3758030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0,092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628613" y="3290284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0,117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9484" y="4292629"/>
            <a:ext cx="2745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НЗП,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млн. руб.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/>
          <p:nvPr/>
        </p:nvCxnSpPr>
        <p:spPr>
          <a:xfrm rot="10800000" flipH="1">
            <a:off x="9693658" y="4773267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923092" y="5026367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-75%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919484" y="5496236"/>
            <a:ext cx="322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мин 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gf9645b2320_6_610"/>
          <p:cNvCxnSpPr/>
          <p:nvPr/>
        </p:nvCxnSpPr>
        <p:spPr>
          <a:xfrm rot="10800000" flipH="1">
            <a:off x="9693658" y="6009533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923092" y="6262633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-31%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" name="Текст 5">
            <a:extLst>
              <a:ext uri="{FF2B5EF4-FFF2-40B4-BE49-F238E27FC236}">
                <a16:creationId xmlns:a16="http://schemas.microsoft.com/office/drawing/2014/main" id="{E847D8B6-7752-4229-BFD0-C57ACDD5265F}"/>
              </a:ext>
            </a:extLst>
          </p:cNvPr>
          <p:cNvSpPr txBox="1">
            <a:spLocks/>
          </p:cNvSpPr>
          <p:nvPr/>
        </p:nvSpPr>
        <p:spPr>
          <a:xfrm>
            <a:off x="2789945" y="3089778"/>
            <a:ext cx="6050942" cy="3754876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AutoNum type="arabicPeriod"/>
              <a:defRPr/>
            </a:pPr>
            <a:r>
              <a:rPr lang="ru-RU" b="1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Повышена на </a:t>
            </a:r>
            <a:r>
              <a:rPr lang="ru-RU" b="1" dirty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55% </a:t>
            </a:r>
            <a:r>
              <a:rPr lang="ru-RU" b="1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производительность выпуска железобетонных плит </a:t>
            </a: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2П18-30 за счёт выделения отдельного автотранспортного средства для поставки бетонной смеси, что позволило сократить ожидание со </a:t>
            </a:r>
            <a:r>
              <a:rPr lang="ru-RU" b="1" dirty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180 до 15 минут</a:t>
            </a: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.</a:t>
            </a:r>
            <a:endParaRPr lang="ru-RU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Хранение готовой продукции перенесено из цеха на уличный склад, что позволило </a:t>
            </a:r>
            <a:r>
              <a:rPr lang="ru-RU" b="1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высвободить производственные площади</a:t>
            </a: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и сократить НЗП  с </a:t>
            </a:r>
            <a:r>
              <a:rPr lang="ru-RU" b="1" dirty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2,075  </a:t>
            </a: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до </a:t>
            </a:r>
            <a:r>
              <a:rPr lang="ru-RU" b="1" dirty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0,75 млн. руб.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Изменена </a:t>
            </a:r>
            <a:r>
              <a:rPr lang="ru-RU" b="1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схема прихода материалов и вывоза готовой продукции </a:t>
            </a:r>
            <a:r>
              <a:rPr lang="ru-RU" dirty="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из цеха, что позволило развести пересекающиеся потоки и исключить простой производства во время погрузочно-разгрузочных работ</a:t>
            </a:r>
            <a:r>
              <a:rPr lang="ru-RU" dirty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;</a:t>
            </a:r>
            <a:endParaRPr lang="ru-RU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Введено в эксплуатацию сложное технологическое оборудование (парогенератор), что существенно сократило время сушки с </a:t>
            </a:r>
            <a:r>
              <a:rPr lang="ru-RU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 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  </a:t>
            </a:r>
            <a:r>
              <a:rPr lang="ru-RU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 часов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 и значительно сократило затраты на газ (</a:t>
            </a:r>
            <a:r>
              <a:rPr lang="ru-RU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2 раза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386783" y="3107827"/>
            <a:ext cx="2561200" cy="139263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Clr>
                <a:srgbClr val="7F7F7F"/>
              </a:buClr>
              <a:buSzPts val="1125"/>
              <a:buNone/>
            </a:pPr>
            <a:r>
              <a:rPr lang="ru-RU" sz="16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Предприятие увеличило производство железобетонных плит, сократив издержки </a:t>
            </a:r>
            <a:endParaRPr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54;gf9645b2320_6_610">
            <a:extLst>
              <a:ext uri="{FF2B5EF4-FFF2-40B4-BE49-F238E27FC236}">
                <a16:creationId xmlns:a16="http://schemas.microsoft.com/office/drawing/2014/main" id="{F8F49363-FEBB-45C3-86A1-B21815800BD4}"/>
              </a:ext>
            </a:extLst>
          </p:cNvPr>
          <p:cNvSpPr txBox="1"/>
          <p:nvPr/>
        </p:nvSpPr>
        <p:spPr>
          <a:xfrm>
            <a:off x="9034985" y="4968733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0,512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55;gf9645b2320_6_610">
            <a:extLst>
              <a:ext uri="{FF2B5EF4-FFF2-40B4-BE49-F238E27FC236}">
                <a16:creationId xmlns:a16="http://schemas.microsoft.com/office/drawing/2014/main" id="{DA53C51D-6AAA-4E5E-A285-E7AD9DE6BA23}"/>
              </a:ext>
            </a:extLst>
          </p:cNvPr>
          <p:cNvSpPr txBox="1"/>
          <p:nvPr/>
        </p:nvSpPr>
        <p:spPr>
          <a:xfrm>
            <a:off x="10628613" y="4521077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2,075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54;gf9645b2320_6_610">
            <a:extLst>
              <a:ext uri="{FF2B5EF4-FFF2-40B4-BE49-F238E27FC236}">
                <a16:creationId xmlns:a16="http://schemas.microsoft.com/office/drawing/2014/main" id="{1D115019-5263-4B65-824B-98346FE04BE9}"/>
              </a:ext>
            </a:extLst>
          </p:cNvPr>
          <p:cNvSpPr txBox="1"/>
          <p:nvPr/>
        </p:nvSpPr>
        <p:spPr>
          <a:xfrm>
            <a:off x="9034985" y="6219615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900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55;gf9645b2320_6_610">
            <a:extLst>
              <a:ext uri="{FF2B5EF4-FFF2-40B4-BE49-F238E27FC236}">
                <a16:creationId xmlns:a16="http://schemas.microsoft.com/office/drawing/2014/main" id="{2B98A016-89F9-4779-8A71-59516D544A25}"/>
              </a:ext>
            </a:extLst>
          </p:cNvPr>
          <p:cNvSpPr txBox="1"/>
          <p:nvPr/>
        </p:nvSpPr>
        <p:spPr>
          <a:xfrm>
            <a:off x="10628613" y="5751869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    1300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622;gf9645b2320_6_610">
            <a:extLst>
              <a:ext uri="{FF2B5EF4-FFF2-40B4-BE49-F238E27FC236}">
                <a16:creationId xmlns:a16="http://schemas.microsoft.com/office/drawing/2014/main" id="{44A36060-A1F9-4A10-BA24-683248756259}"/>
              </a:ext>
            </a:extLst>
          </p:cNvPr>
          <p:cNvSpPr txBox="1"/>
          <p:nvPr/>
        </p:nvSpPr>
        <p:spPr>
          <a:xfrm>
            <a:off x="1606998" y="52474"/>
            <a:ext cx="7994800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7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ВСКРЫТИЯ РЕЗЕРВОВ ПРОИЗВОДИТЕЛЬНОСТИ</a:t>
            </a:r>
            <a:endParaRPr sz="1707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786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685889" y="1030248"/>
            <a:ext cx="3832231" cy="64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 algn="l">
              <a:buSzPts val="1127"/>
            </a:pPr>
            <a:r>
              <a:rPr lang="ru-RU" sz="2133" b="1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АО «БЕТОНИКА»</a:t>
            </a:r>
            <a:br>
              <a:rPr lang="ru-RU" sz="2133" b="1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2133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г. Санкт-Петербург</a:t>
            </a:r>
            <a:endParaRPr lang="ru-RU" sz="1867" dirty="0">
              <a:solidFill>
                <a:srgbClr val="094697"/>
              </a:solidFill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gf9645b2320_6_610"/>
          <p:cNvSpPr txBox="1"/>
          <p:nvPr/>
        </p:nvSpPr>
        <p:spPr>
          <a:xfrm>
            <a:off x="3589795" y="1263759"/>
            <a:ext cx="6825964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45715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23.63 Производство товарного бетона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222125" y="1937692"/>
            <a:ext cx="7200791" cy="7658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866" indent="0">
              <a:buNone/>
            </a:pPr>
            <a:r>
              <a:rPr lang="ru-RU" sz="1867" b="1" dirty="0">
                <a:solidFill>
                  <a:schemeClr val="bg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Оптимизация процесса производства железобетонных изделий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685018" y="3133538"/>
            <a:ext cx="7008357" cy="8617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0" indent="0" defTabSz="1219078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1600" dirty="0">
                <a:latin typeface="Montserrat"/>
                <a:ea typeface="Open Sans"/>
                <a:cs typeface="Open Sans"/>
              </a:rPr>
              <a:t>Предприятие увеличило производство железобетонных плит, сократив издержки </a:t>
            </a:r>
            <a:endParaRPr lang="ru-RU" sz="1600">
              <a:latin typeface="Montserrat"/>
              <a:ea typeface="+mn-lt"/>
              <a:cs typeface="+mn-lt"/>
            </a:endParaRPr>
          </a:p>
          <a:p>
            <a:pPr marL="0" indent="0" defTabSz="1219078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ru-RU" sz="1600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95396" y="2705304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257671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699966" y="2793112"/>
            <a:ext cx="7081300" cy="6858000"/>
          </a:xfrm>
          <a:prstGeom prst="rect">
            <a:avLst/>
          </a:prstGeom>
        </p:spPr>
      </p:pic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5559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7835" y="3826075"/>
            <a:ext cx="7081300" cy="6858000"/>
          </a:xfrm>
          <a:prstGeom prst="rect">
            <a:avLst/>
          </a:prstGeom>
        </p:spPr>
      </p:pic>
      <p:sp>
        <p:nvSpPr>
          <p:cNvPr id="40" name="Текст 5">
            <a:extLst>
              <a:ext uri="{FF2B5EF4-FFF2-40B4-BE49-F238E27FC236}">
                <a16:creationId xmlns:a16="http://schemas.microsoft.com/office/drawing/2014/main" id="{C6C828F2-999F-3424-39A1-897C7CC9493A}"/>
              </a:ext>
            </a:extLst>
          </p:cNvPr>
          <p:cNvSpPr txBox="1">
            <a:spLocks/>
          </p:cNvSpPr>
          <p:nvPr/>
        </p:nvSpPr>
        <p:spPr>
          <a:xfrm>
            <a:off x="2804119" y="3713532"/>
            <a:ext cx="5156276" cy="3046990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indent="-304165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Повышена </a:t>
            </a:r>
            <a:r>
              <a:rPr lang="ru-RU" sz="1200" b="1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на 55% </a:t>
            </a:r>
            <a:r>
              <a:rPr lang="ru-RU" sz="12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производительность выпуска железобетонных плит 2П18-30 за счёт выделения отдельного автотранспортного средства для поставки бетонной смеси, что позволило сократить ожидания со </a:t>
            </a:r>
            <a:r>
              <a:rPr lang="ru-RU" sz="1200" b="1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180 до 15 минут</a:t>
            </a:r>
            <a:r>
              <a:rPr lang="ru-RU" sz="12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1100" dirty="0"/>
          </a:p>
          <a:p>
            <a:pPr marL="304165" indent="-304165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Хранение готовой продукции перенесено из цеха на уличный склад, что позволило высвободить производственные площади. </a:t>
            </a:r>
          </a:p>
          <a:p>
            <a:pPr marL="304165" indent="-304165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Изменена схема прихода материалов и вывоза готовой продукции из цеха, что позволило развести пересекающиеся потоки и исключить простой производства во время погрузочно-разгрузочных работ.</a:t>
            </a:r>
          </a:p>
          <a:p>
            <a:pPr marL="304165" indent="-304165"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Введено в эксплуатацию сложное технологическое оборудование (парогенератор), что существенно сократило время сушки с 16 до  10 часов,  и значительно сократило затраты на газ (в 2 раза)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301997" y="3250225"/>
            <a:ext cx="4007203" cy="320106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+27%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-75%</a:t>
            </a:r>
          </a:p>
          <a:p>
            <a:r>
              <a:rPr lang="ru-RU" sz="1467" dirty="0">
                <a:latin typeface="Montserrat"/>
              </a:rPr>
              <a:t>незавершенное производство </a:t>
            </a:r>
            <a:br>
              <a:rPr lang="ru-RU" sz="1467" dirty="0">
                <a:latin typeface="Montserrat"/>
              </a:rPr>
            </a:br>
            <a:r>
              <a:rPr lang="ru-RU" sz="1467" dirty="0">
                <a:latin typeface="Montserrat"/>
              </a:rPr>
              <a:t>в потоке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-31%</a:t>
            </a:r>
          </a:p>
          <a:p>
            <a:r>
              <a:rPr lang="ru-RU" sz="1467" dirty="0">
                <a:latin typeface="Montserrat"/>
              </a:rPr>
              <a:t>время протекания процессов</a:t>
            </a:r>
          </a:p>
        </p:txBody>
      </p:sp>
      <p:pic>
        <p:nvPicPr>
          <p:cNvPr id="17" name="Рисунок 16" descr="Изображение выглядит как кровать, мебель, противень&#10;&#10;Автоматически созданное описание">
            <a:extLst>
              <a:ext uri="{FF2B5EF4-FFF2-40B4-BE49-F238E27FC236}">
                <a16:creationId xmlns:a16="http://schemas.microsoft.com/office/drawing/2014/main" id="{2931569B-74BA-11A4-0B86-3722DCA72C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4000" r="95000">
                        <a14:foregroundMark x1="4000" y1="50000" x2="4000" y2="50000"/>
                        <a14:foregroundMark x1="95000" y1="44667" x2="95000" y2="4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2863">
            <a:off x="513434" y="3841588"/>
            <a:ext cx="2043373" cy="204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71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xBvIotUIYoIOxzPp2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JTYpdF7EiqihV0BB2c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customXml/itemProps2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35F6AD-375F-4813-8BA4-2F393B2EE0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1305</Words>
  <Application>Microsoft Office PowerPoint</Application>
  <PresentationFormat>Широкоэкранный</PresentationFormat>
  <Paragraphs>166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5" baseType="lpstr">
      <vt:lpstr>Arial</vt:lpstr>
      <vt:lpstr>Bpmonline Open Sans</vt:lpstr>
      <vt:lpstr>Calibri</vt:lpstr>
      <vt:lpstr>Calibri Light</vt:lpstr>
      <vt:lpstr>Montserrat</vt:lpstr>
      <vt:lpstr>Montserrat ExtraBold</vt:lpstr>
      <vt:lpstr>Montserrat Medium</vt:lpstr>
      <vt:lpstr>Open sands</vt:lpstr>
      <vt:lpstr>Open Sans</vt:lpstr>
      <vt:lpstr>Verdana</vt:lpstr>
      <vt:lpstr>Тема Office</vt:lpstr>
      <vt:lpstr>Тема Office</vt:lpstr>
      <vt:lpstr>Слайд think-cell</vt:lpstr>
      <vt:lpstr>АО «БетоНИКА» г. Санкт-Петербург</vt:lpstr>
      <vt:lpstr>АО «БЕТОНИКА» г. Санкт-Петербург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«Ферроприбор»  Санкт-Петербург</dc:title>
  <dc:creator>Левкина Наталья</dc:creator>
  <cp:lastModifiedBy>Воронов Николай Сергеевич</cp:lastModifiedBy>
  <cp:revision>73</cp:revision>
  <dcterms:created xsi:type="dcterms:W3CDTF">2021-08-02T16:17:08Z</dcterms:created>
  <dcterms:modified xsi:type="dcterms:W3CDTF">2025-07-29T12:11:45Z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